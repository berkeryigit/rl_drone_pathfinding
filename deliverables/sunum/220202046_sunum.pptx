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A237E"/>
                </a:solidFill>
              </a:rPr>
              <a:t>Kapali Ortamda PPO ile Lidar Tabanli Drone Kesfi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424242"/>
                </a:solidFill>
              </a:rPr>
              <a:t>Pekistirmeli Ogrenme Donem Projesi - Teknik Sunum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424242"/>
                </a:solidFill>
              </a:rPr>
              <a:t/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424242"/>
                </a:solidFill>
              </a:rPr>
              <a:t>Berker Yigit - 220202046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424242"/>
                </a:solidFill>
              </a:rPr>
              <a:t>Kocaeli Universitesi, Bilgisayar Muhendisligi (II. Ogretim)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424242"/>
                </a:solidFill>
              </a:rPr>
              <a:t/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424242"/>
                </a:solidFill>
              </a:rPr>
              <a:t>Algoritma: PPO (Proximal Policy Optimization)   |   Branch: algo/ppo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424242"/>
                </a:solidFill>
              </a:rPr>
              <a:t>Depo: github.com/berkeryigit/rl_drone_pathfinding (algo/ppo)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237E"/>
                </a:solidFill>
              </a:rPr>
              <a:t>Problem ve Neden Pekistirmeli Ogrenme?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424242"/>
                </a:solidFill>
              </a:rPr>
              <a:t>Gorev: GPS'siz kapali binada, sadece lidar + gurultulu odometri ile carpmadan en cok alani kesfet.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424242"/>
                </a:solidFill>
              </a:rPr>
              <a:t>Neden RL? (rehber dort olcutu de saglanir)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424242"/>
                </a:solidFill>
              </a:rPr>
              <a:t>Ardisiklik: bir adimdaki donus, sonraki adimlarin kesif potansiyelini belirler.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424242"/>
                </a:solidFill>
              </a:rPr>
              <a:t>Gecikmeli odul: yeni oda / 6-oda bonusu ancak ileride toplanir.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424242"/>
                </a:solidFill>
              </a:rPr>
              <a:t>Buyuk, bilinmeyen, stokastik durum uzayi (75-D surekli; lidar/odom/ruzgar gurultusu).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424242"/>
                </a:solidFill>
              </a:rPr>
              <a:t>A*/BFS uygulanamaz: harita onceden bilinmez, hareketli engeller var, tek hedef yok (amac kapsama).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237E"/>
                </a:solidFill>
              </a:rPr>
              <a:t>Ortam ve MDP: Durum / Eylem / Odul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424242"/>
                </a:solidFill>
              </a:rPr>
              <a:t>Ortam: 8 m yaricapli, 6 odali bina; 64 isinli lidar; 3 hareketli engel. SAC teslimiyle bayt-bayt ayni ortam.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24242"/>
                </a:solidFill>
              </a:rPr>
              <a:t>Durum (75-D, [0,1]): 64 lidar + yaw cos/sin + onceki eylem(3) + ilerleme/oda(2) + min_lidar/idle(2) + kapi/duvar(2).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24242"/>
                </a:solidFill>
              </a:rPr>
              <a:t>Eylem (3-D surekli, Box[-1,1]): ileri/geri hiz, yanal hiz, donus hizi.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24242"/>
                </a:solidFill>
              </a:rPr>
              <a:t>Odul (kod step() ile birebir): +3 yeni voxel, +20 yeni oda, -40 carpisma, +60 tum odalar, kucuk zaman/tekrar/idle cezalari.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24242"/>
                </a:solidFill>
              </a:rPr>
              <a:t>Toplam getiri ~ kesfedilen alan; carpisma agir cezali. Bolum: carpisma/6-oda ile biter, 600 adimda kesilir.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237E"/>
                </a:solidFill>
              </a:rPr>
              <a:t>PPO Algoritmasi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424242"/>
                </a:solidFill>
              </a:rPr>
              <a:t>Aktor-kritik, ON-POLICY politika gradyani. Aktor surekli eylemde Gauss dagilimi uretir; kritik durum degerini tahmin eder.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24242"/>
                </a:solidFill>
              </a:rPr>
              <a:t>Clipped surrogate: yeni/eski politika orani 1 +/- 0.2 ile kirpilir =&gt; kararli, asiri sapmasiz guncelleme.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24242"/>
                </a:solidFill>
              </a:rPr>
              <a:t>GAE (lambda=0.95) ile avantaj tahmini.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24242"/>
                </a:solidFill>
              </a:rPr>
              <a:t>Replay buffer YOK: her rollout verisi birkac epoch kullanilip atilir =&gt; off-policy SAC/DQN'e gore daha az ornek-verimli.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24242"/>
                </a:solidFill>
              </a:rPr>
              <a:t>Telafi: 8 paralel ortam + daha uzun egitim (1.5M adim/seed).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24242"/>
                </a:solidFill>
              </a:rPr>
              <a:t>Adil karsilastirma: learning_rate, gamma, ag mimarisi, num_envs SAC teslimiyle AYNI.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237E"/>
                </a:solidFill>
              </a:rPr>
              <a:t>Hiperparametreler (config.yaml)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424242"/>
                </a:solidFill>
              </a:rPr>
              <a:t>learning_rate = 3e-4 (SAC ile ayni)   |   gamma = 0.98 (SAC ile ayni)   |   net_arch = [256,256]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24242"/>
                </a:solidFill>
              </a:rPr>
              <a:t>n_steps = 1024   |   batch_size = 512   |   n_epochs = 10   (rollout = 8x1024 = 8192)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24242"/>
                </a:solidFill>
              </a:rPr>
              <a:t>clip_range = 0.2 (politika klipsi)   |   gae_lambda = 0.95 (avantaj yumusatma)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24242"/>
                </a:solidFill>
              </a:rPr>
              <a:t>ent_coef = 0.005 (entropi/kesif bonusu)   |   vf_coef = 0.5   |   max_grad_norm = 0.5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24242"/>
                </a:solidFill>
              </a:rPr>
              <a:t>num_envs = 8 (paralel toplama)   |   total_timesteps = 1.5M/seed   |   device = cpu (MLP icin onerilir)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24242"/>
                </a:solidFill>
              </a:rPr>
              <a:t>Sweep'te taranan: learning_rate {1e-4, 3e-4, 1e-3} ve ent_coef {0.0, 0.01, 0.05}.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237E"/>
                </a:solidFill>
              </a:rPr>
              <a:t>Deney Duzeni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424242"/>
                </a:solidFill>
              </a:rPr>
              <a:t>5 seed: 7, 13, 42, 123, 2025 (&gt;=5 zorunlu). Her seed ayri politika.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424242"/>
                </a:solidFill>
              </a:rPr>
              <a:t>Egitim sirasinda her 10k adimda deterministik eval; en iyi model saklanir.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424242"/>
                </a:solidFill>
              </a:rPr>
              <a:t>Final degerlendirme: 20 bolum DETERMINISTIK (greedy) koSu (egitim egrisi tek basina kanit degil).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424242"/>
                </a:solidFill>
              </a:rPr>
              <a:t>Baseline: rastgele + sezgisel politika, ayni ortamda 20'ser bolum.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424242"/>
                </a:solidFill>
              </a:rPr>
              <a:t>Tum rastgelelik numpy.random.default_rng ile; import gym / np.random.seed YOK.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237E"/>
                </a:solidFill>
              </a:rPr>
              <a:t>Grafik 1 - Ogrenme Egrisi (PPO egitim)</a:t>
            </a:r>
          </a:p>
        </p:txBody>
      </p:sp>
      <p:pic>
        <p:nvPicPr>
          <p:cNvPr id="3" name="Picture 2" descr="1_ogrenme_egri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8406884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63840" y="1280160"/>
            <a:ext cx="4023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A237E"/>
                </a:solidFill>
              </a:rPr>
              <a:t>Yorum</a:t>
            </a:r>
          </a:p>
          <a:p>
            <a:r>
              <a:rPr sz="1400">
                <a:solidFill>
                  <a:srgbClr val="424242"/>
                </a:solidFill>
              </a:rPr>
              <a:t>Gozlem: Getiri ~290'dan ~0.5M'de ~470'e cikip 0.6M sonrasi ~480'de plato; std bandi daralir.
Karsilastirma: 5 tohum ayni seyirde, sonda fark cok kucuk (tohuma kararli).
Aciklama: Clipped surrogate sinirli adimlarla guncelledigi icin getiri sicramasiz artar; plato 6 odayi gezme tavanidir.
Sonuc: 1.5M adim yakinsamaya fazlasiyla yeter; daha fazlasi getiriyi artirmaz.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237E"/>
                </a:solidFill>
              </a:rPr>
              <a:t>Grafik 2 - Test (Eval) Egrisi</a:t>
            </a:r>
          </a:p>
        </p:txBody>
      </p:sp>
      <p:pic>
        <p:nvPicPr>
          <p:cNvPr id="3" name="Picture 2" descr="2_eval_egri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8406884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63840" y="1280160"/>
            <a:ext cx="4023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A237E"/>
                </a:solidFill>
              </a:rPr>
              <a:t>Yorum</a:t>
            </a:r>
          </a:p>
          <a:p>
            <a:r>
              <a:rPr sz="1400">
                <a:solidFill>
                  <a:srgbClr val="424242"/>
                </a:solidFill>
              </a:rPr>
              <a:t>Gozlem: Deterministik eval ~200'den ~0.4M'de ~470'e cikip egitim platosuna oturur.
Karsilastirma: Greedy eval ile stokastik egitim ayni seviyede; fark ihmal edilebilir.
Aciklama: Yuksek getiri rastgele kesiften degil ogrenilen politikadan gelir; greedy'de de basari korunur.
Sonuc: Politika genellesmistir; egitim egrisi degil ayri eval ile dogrulandi (B2).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237E"/>
                </a:solidFill>
              </a:rPr>
              <a:t>Grafik 3 - Loss Egrisi (policy gradient &amp; value)</a:t>
            </a:r>
          </a:p>
        </p:txBody>
      </p:sp>
      <p:pic>
        <p:nvPicPr>
          <p:cNvPr id="3" name="Picture 2" descr="3_loss_egri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9132136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63840" y="1280160"/>
            <a:ext cx="4023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A237E"/>
                </a:solidFill>
              </a:rPr>
              <a:t>Yorum</a:t>
            </a:r>
          </a:p>
          <a:p>
            <a:r>
              <a:rPr sz="1400">
                <a:solidFill>
                  <a:srgbClr val="424242"/>
                </a:solidFill>
              </a:rPr>
              <a:t>Gozlem: Critic (value) loss ~0.3M'de ~140 tepe yapip ~30'a duser; actor loss kucuk (-0.0065..-0.004) ve yatay.
Karsilastirma: Critic tepesi getirinin en hizli yukseldigi doneme denk gelir.
Aciklama: Buyuk odullar kesfedilince deger hedefleri buyur (critic zorlanir), politika oturunca duser; actor kucuk cunku klips guncellemeyi sinirlar.
Sonuc: Critic loss dususu saglikli yakinsama, actor loss yataylik kararliligi gosterir.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237E"/>
                </a:solidFill>
              </a:rPr>
              <a:t>Grafik 4 - Hiperparametre Duyarliligi</a:t>
            </a:r>
          </a:p>
        </p:txBody>
      </p:sp>
      <p:pic>
        <p:nvPicPr>
          <p:cNvPr id="3" name="Picture 2" descr="4_hiperparametre_duyarlili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11038802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63840" y="1280160"/>
            <a:ext cx="4023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A237E"/>
                </a:solidFill>
              </a:rPr>
              <a:t>Yorum</a:t>
            </a:r>
          </a:p>
          <a:p>
            <a:r>
              <a:rPr sz="1400">
                <a:solidFill>
                  <a:srgbClr val="424242"/>
                </a:solidFill>
              </a:rPr>
              <a:t>Gozlem: ent_coef en iyi 0.05'te (368); lr en iyi 1e-4'te (375), lr buyudukce hafif duser. Kisa butce (200k) oldugu icin getiriler ana koSudan dusuk.
Karsilastirma: Farklar hata bandi icinde; ajan bu aralikta HP'ye az duyarli.
Aciklama: Yuksek ent_coef daha cok kesif =&gt; kisa butcede biraz daha iyi; cok yuksek lr (1e-3) erken kararliligi bozar (kesif-somuru).
Sonuc: Taban degerler (lr=3e-4, ent=0.005) guvenli orta nokta; ince ayar kritik degil.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237E"/>
                </a:solidFill>
              </a:rPr>
              <a:t>Grafik 5 - Baseline Karsilastirma</a:t>
            </a:r>
          </a:p>
        </p:txBody>
      </p:sp>
      <p:pic>
        <p:nvPicPr>
          <p:cNvPr id="3" name="Picture 2" descr="5_baseline_karsilast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7004729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63840" y="1280160"/>
            <a:ext cx="4023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A237E"/>
                </a:solidFill>
              </a:rPr>
              <a:t>Yorum</a:t>
            </a:r>
          </a:p>
          <a:p>
            <a:r>
              <a:rPr sz="1400">
                <a:solidFill>
                  <a:srgbClr val="424242"/>
                </a:solidFill>
              </a:rPr>
              <a:t>Gozlem: Eval getirisi PPO 459, heuristic 402, random 49.
Karsilastirma: Getiride az fark olsa da kapsama (%96.7 vs %79.9) ve carpisma (0.04 vs 0.45) farki cok buyuk; random her olcutte geride.
Aciklama: Heuristic kapilari planlayamaz ve sik carpar; PPO lidar+deger ile daha cok oda gezip neredeyse hic carpmaz.
Sonuc: Ogrenme gercek kazanim; problem basit kural/rastgelelikle cozulemez (B5).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237E"/>
                </a:solidFill>
              </a:rPr>
              <a:t>Savunma Ozeti (4 Kavram Alani)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424242"/>
                </a:solidFill>
              </a:rPr>
              <a:t>Stokastik mi? EVET. Kanit kod satiri: ruzgar (step), lidar (_compute_lidar), odom (_make_obs) gurultusu =&gt; p(s'|s,a) dejenere degil.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24242"/>
                </a:solidFill>
              </a:rPr>
              <a:t>On/Off-policy? ON-POLICY. Davranis = hedef politika; replay buffer yok; veri kullanilip atilir.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24242"/>
                </a:solidFill>
              </a:rPr>
              <a:t>Markov? Yaklasik saglanir: lidar + hiz (onceki eylem) + adim-deterministik engeller. Gurultu/sinirli gorus ile yalnizca yaklasik.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24242"/>
                </a:solidFill>
              </a:rPr>
              <a:t>POMDP mi? EVET. Gercek durum != gozlem: odom gurultusu, gorus-disi duvarlar, engelin gelecek konumu gozlemde yok.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237E"/>
                </a:solidFill>
              </a:rPr>
              <a:t>Sonuc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424242"/>
                </a:solidFill>
              </a:rPr>
              <a:t>PPO, on-policy ve replay buffer'siz olmasina ragmen rastgele ve sezgisel taban politikalarini belirgin gecti.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424242"/>
                </a:solidFill>
              </a:rPr>
              <a:t>Paralel toplama + uzun egitim ile yuksek oda kapsamasi elde edildi.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424242"/>
                </a:solidFill>
              </a:rPr>
              <a:t>Ayni ortam/seed/protokol SAC ile korundugundan sonuclar dogrudan karsilastirilabilir.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424242"/>
                </a:solidFill>
              </a:rPr>
              <a:t>Tum grafikler sonuclar/loglar/ altindaki ham loglardan yeniden uretilebilir.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