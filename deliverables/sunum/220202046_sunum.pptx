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Kapalı Ortamda PPO ile Lidar Tabanlı Drone Keşfi</a:t>
            </a:r>
          </a:p>
          <a:p>
            <a:r>
              <a:rPr sz="2200">
                <a:solidFill>
                  <a:srgbClr val="B0BEE8"/>
                </a:solidFill>
              </a:rPr>
              <a:t>Pekiştirmeli Öğrenme Dönem Projesi — Teknik Sunum</a:t>
            </a:r>
          </a:p>
          <a:p>
            <a:r>
              <a:rPr sz="1800">
                <a:solidFill>
                  <a:srgbClr val="FFFFFF"/>
                </a:solidFill>
              </a:rPr>
              <a:t/>
            </a:r>
          </a:p>
          <a:p>
            <a:r>
              <a:rPr sz="1800">
                <a:solidFill>
                  <a:srgbClr val="FFFFFF"/>
                </a:solidFill>
              </a:rPr>
              <a:t>Berker Yiğit — 220202046</a:t>
            </a:r>
          </a:p>
          <a:p>
            <a:r>
              <a:rPr sz="1800">
                <a:solidFill>
                  <a:srgbClr val="FFFFFF"/>
                </a:solidFill>
              </a:rPr>
              <a:t>Kocaeli Üniversitesi, Bilgisayar Mühendisliği (II. Öğretim)</a:t>
            </a:r>
          </a:p>
          <a:p>
            <a:r>
              <a:rPr sz="1800">
                <a:solidFill>
                  <a:srgbClr val="FFFFFF"/>
                </a:solidFill>
              </a:rPr>
              <a:t>Algoritma: PPO   |   Branch: algo/ppo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İçerik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Problem ve Neden Pekiştirmeli Öğrenme?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Ortam ve MDP (durum / eylem / ödül) — SAC ile birebir aynı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PPO Algoritması ve Hiperparametreler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Deney Düzeni (5 seed, deterministik eval, baseline)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5 Zorunlu Grafik + Ek Analizler (oda keşfi, çarpışma, iç dinamikler, heatmap)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Hiperparametre Taraması (clip/ent/gamma/lr/vf — yeniden eğitim)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Per-seed Detay Panelleri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PPO vs SAC Karşılaştırması (aynı ortam/seed/protokol)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Savunma Özeti ve Sonuç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Problem ve Neden Pekiştirmeli Öğrenme?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Görev: GPS'siz kapalı binada, sadece lidar + gürültülü odometri ile çarpmadan en çok alanı keşfet.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Neden RL? (rehber dört ölçütü de sağlanır)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• Ardışıklık: bir adımdaki dönüş, sonraki adımların keşif potansiyelini belirler.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• Gecikmeli ödül: yeni oda / 6-oda bonusu ancak ileride toplanır.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• Büyük, bilinmeyen, stokastik durum uzayı (75-D sürekli; lidar/odom/rüzgar gürültüsü).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• A*/BFS uygulanamaz: harita önceden bilinmez, hareketli engeller var, tek hedef yok (amaç kapsama).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Ortam ve MDP: Durum / Eylem / Ödül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Ortam: 8 m yarıçaplı, 6 odalı bina; 64 ışınlı lidar; 3 hareketli engel.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◆ SAC teslimiyle BAYT-BAYT aynı ortam (MD5 61ec1d6a); state Box(75), action Box(-1,1)³ birebir aynı.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Durum (75-D, [0,1]): 64 lidar + yaw cos/sin + önceki eylem(3) + ilerleme/oda(2) + min_lidar/idle(2) + kapı/duvar(2).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Eylem (3-D sürekli): ileri/geri hız, yanal hız, dönüş hızı.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Ödül (kod step() ile birebir): +3 yeni voxel, +20 yeni oda, -40 çarpışma, +60 tüm odalar, küçük zaman/idle cezaları.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STOKASTİK: rüzgar σ=0.015 (geçiş, satır 133-135) + lidar σ=0.015 + odometri σ=0.004 (gözlem) + 3 hareketli engel → p(s′|s,a) dejenere değil.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Bölüm: çarpışma veya 6-oda ile biter, 600 adımda kesilir.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PPO Algoritması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Aktör-kritik, ON-POLICY politika gradyanı. Aktör sürekli eylemde Gauss dağılımı; kritik durum değeri.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Clipped surrogate: yeni/eski politika oranı 1 ± 0.2 ile kırpılır =&gt; kararlı, aşırı sapmasız güncelleme.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GAE (lambda=0.95) ile avantaj tahmini.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Replay buffer YOK: rollout verisi birkaç epoch kullanılıp atılır =&gt; off-policy'ye göre daha az örnek-verimli.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Telafi: 8 paralel ortam + daha uzun eğitim (1.5M adım/seed).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Adil karşılaştırma: learning_rate, gamma, ağ mimarisi, num_envs SAC teslimiyle AYNI.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Hiperparametreler ve Deney Düzeni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config.yaml: lr=3e-4, gamma=0.98, net=[256,256], n_steps=1024, batch=512, n_epochs=10, clip=0.2, gae=0.95, ent=0.005, vf=0.5.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5 seed: 7,13,42,123,2025 (&gt;=5 zorunlu). Her seed ayrı politika; her 10k adımda deterministik eval.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Final: 20 bölüm DETERMİNİSTİK (greedy) koşu (eğitim eğrisi tek başına kanıt değil).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Baseline: rastgele + sezgisel politika, aynı ortamda.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HP taraması (yeniden eğitim): clip_range, ent_coef, gamma, learning_rate, vf_coef -&gt; her biri &gt;=3 değer × 5 seed.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Tüm rastgelelik numpy.random.default_rng; import gym / np.random.seed YOK.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1 — Öğrenme Eğrisi (PPO eğitim)</a:t>
            </a:r>
          </a:p>
        </p:txBody>
      </p:sp>
      <p:pic>
        <p:nvPicPr>
          <p:cNvPr id="4" name="Picture 3" descr="1_ogrenme_egri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487536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Getiri ~290'dan ~0.5M'de ~470'e çıkıp 0.6M sonrası ~480'de plato; std bandı daralır.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5 tohum aynı seyirde; sonda fark çok küçük (tohuma kararlı).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Clipped surrogate sınırlı adımlarla güncellediği için getiri sıçramasız artar; plato 6 odayı gezme tavanıdır.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1.5M adım yakınsamaya fazlasıyla yeter (bkz. uzun-ufuk grafiği).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1b — Öğrenme Eğrisi (x = Episode sayısı)</a:t>
            </a:r>
          </a:p>
        </p:txBody>
      </p:sp>
      <p:pic>
        <p:nvPicPr>
          <p:cNvPr id="4" name="Picture 3" descr="1b_ogrenme_egrisi_epis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487536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Episode ekseninde de getiri ilk birkaç bin bölümde yükselip platoya oturur.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Adım-ekseni eğrisiyle aynı hikâye; sadece x birimi farklı (hoca: episode-bazlı eğri).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Bölüm uzunluğu öğrendikçe uzar (çarpışma azalır), bu yüzden episode ve adım eksenleri hafif farklı ölçeklenir.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Yakınsama hem adım hem episode bazında doğrulanır.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2 — Test (Eval) Eğrisi</a:t>
            </a:r>
          </a:p>
        </p:txBody>
      </p:sp>
      <p:pic>
        <p:nvPicPr>
          <p:cNvPr id="4" name="Picture 3" descr="2_eval_egri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5288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Deterministik eval ~200'den ~0.4M'de ~470'e çıkıp eğitim platosuna oturur.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Greedy eval ile stokastik eğitim aynı seviyede; fark ihmal edilebilir.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Yüksek getiri rastgele keşiften değil öğrenilen politikadan gelir; greedy'de de başarı korunur.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Politika genelleşmiştir; ayrı deterministik koşu ile doğrulandı (rehber B2).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3 — Loss Eğrisi (policy gradient &amp; value)</a:t>
            </a:r>
          </a:p>
        </p:txBody>
      </p:sp>
      <p:pic>
        <p:nvPicPr>
          <p:cNvPr id="4" name="Picture 3" descr="3_loss_egri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928138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Critic (value) loss ~0.3M'de ~140 tepe yapıp ~30'a düşer; actor loss küçük ve yatay.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Critic tepesi getirinin en hızlı yükseldiği döneme denk gelir.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Büyük ödüller keşfedilince değer hedefleri büyür (critic zorlanır); politika oturunca düşer. Actor küçük çünkü klips güncellemeyi sınırlar.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Critic loss düşüşü sağlıklı yakınsama, actor loss yataylık kararlılığı gösterir.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4 — Hiperparametre Duyarlılığı (5 parametre)</a:t>
            </a:r>
          </a:p>
        </p:txBody>
      </p:sp>
      <p:pic>
        <p:nvPicPr>
          <p:cNvPr id="4" name="Picture 3" descr="4_hiperparametre_duyarlil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25155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Gözlem: clip_range, ent_coef, gamma, learning_rate, vf_coef 5 tohumla tarandı; eğriler hata bandı içinde yatay.  Karşılaştırma: Orta clip (0.2), 0.98–0.99 gamma ve düşük-orta lr en dengeli; uçlar varyansı artırır.  Açıklama: Yüksek ent_coef/gamma keşfi (exploration), düşük lr/orta clip sömürüyü (exploitation) ve kararlılığı güçlendirir.  Sonuç: Seçilen taban değerler güvenli orta nokta; sonuç bu aralıkta gürbüz.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5 — Baseline Karşılaştırma (getiri)</a:t>
            </a:r>
          </a:p>
        </p:txBody>
      </p:sp>
      <p:pic>
        <p:nvPicPr>
          <p:cNvPr id="4" name="Picture 3" descr="5_baseline_karsilast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675664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Eval getirisi PPO ~459, heuristic ~402, random ~49.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Getiride az fark olsa da kapsama ve çarpışma farkı çok büyük; random her ölçütte geride.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Heuristic kapıları planlayamaz ve sık çarpar; PPO lidar+değer ile daha çok oda gezip neredeyse hiç çarpmaz.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Öğrenme gerçek kazanım; problem basit kural/rastgelelikle çözülemez (rehber B5).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5b — Baseline 4 Metrik (görev metrikleri)</a:t>
            </a:r>
          </a:p>
        </p:txBody>
      </p:sp>
      <p:pic>
        <p:nvPicPr>
          <p:cNvPr id="4" name="Picture 3" descr="5b_baseline_4metr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29798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Gözlem: Getiri, oda, kapsama ve başarı metriklerinin dördünde de PPO önde.  Karşılaştırma: Özellikle tam-keşif başarısında PPO açık ara önde; random %0 başarı.  Açıklama: Görev metrikleri (oda/kapsama) sadece getiriye değil sistematik keşfe bakar; PPO bunu öğrenir.  Sonuç: PPO yalnızca puan değil, gerçek görev hedefini de baskalarından iyi yapar.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6 — PPO İç Dinamikleri (clip / KL / entropi)</a:t>
            </a:r>
          </a:p>
        </p:txBody>
      </p:sp>
      <p:pic>
        <p:nvPicPr>
          <p:cNvPr id="4" name="Picture 3" descr="6_ppo_ic_dinamik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1718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Gözlem: clip_fraction ~0.04'ten ~0.16'ya çıkar, approx_kl büyür, entropi azalır.  Karşılaştırma: DQN'deki epsilon çizelgesinin PPO karşılığı; keşiften sömürüye geçiş ÖĞRENİLEREK olur.  Açıklama: Başta yüksek entropi geniş keşif sağlar; politika iyileştikçe avantajlı eylemlere olasılık yığılır, entropi düşer.  Sonuç: Eğrilerin patlamadan seyretmesi klips'in güncellemeleri güvenli tuttuğunu gösterir.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7 — Oda Keşif Süreci</a:t>
            </a:r>
          </a:p>
        </p:txBody>
      </p:sp>
      <p:pic>
        <p:nvPicPr>
          <p:cNvPr id="4" name="Picture 3" descr="7_oda_kesif_sure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369764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Episode başına keşfedilen oda 1'den yükselip hedef 6'ya yaklaşır.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Başta sadece doğulan oda; sonda ortalama 5–6 banda çıkar.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Çarpışmadan kaçınmayı öğrenen ajan hayatta kalır ve kapıları bulup derin odalara erişir (+20/+60 ödül).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Model havada kalmayı değil, asıl amaç olan alan taramayı da yapar.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8 — Çarpışma Oranı</a:t>
            </a:r>
          </a:p>
        </p:txBody>
      </p:sp>
      <p:pic>
        <p:nvPicPr>
          <p:cNvPr id="4" name="Picture 3" descr="8_carpisma_ora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5288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Çarpışma oranı başta ~%100'e yakınken zamanla ciddi ve kararlı düşer.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Per-seed eğriler aynı yönde; sonda düşük bantta sabitlenir.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Lidar mesafesi ile -40 çarpışma cezası ilişkisi ağ tarafından kurulur; kaçış davranışı değere yansır.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Ajan engel algılama ve çarpışmadan sakınmayı kalıcı olarak edinir.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9 — Seed Karşılaştırması</a:t>
            </a:r>
          </a:p>
        </p:txBody>
      </p:sp>
      <p:pic>
        <p:nvPicPr>
          <p:cNvPr id="4" name="Picture 3" descr="9_seed_karsilast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5288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5 tohumun her biri kendine özgü yörünge izler; bazıları hızlı, bazıları yavaş yükselir.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Başlangıç hızları farklı olsa da hepsi yakın ve yüksek platoya ulaşır.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Fark, başlangıç pozisyonu rastgeleliği ve ağırlık ilklendirmesinden gelir; &gt;=5 tohum bu varyans için gerekli.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Yakınsamanın korunması algoritmanın gürbüzlüğünü (robustness) kanıtlar.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10 — gamma × lr Isı Haritası</a:t>
            </a:r>
          </a:p>
        </p:txBody>
      </p:sp>
      <p:pic>
        <p:nvPicPr>
          <p:cNvPr id="4" name="Picture 3" descr="10_gamma_l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31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Gözlem: 3×3 ızgarada getiri/oda/skor ısı haritası; en iyi bölge orta-yüksek gamma + düşük-orta lr köşesi.  Karşılaştırma: Yüksek lr + düşük gamma köşesi en zayıf.  Açıklama: Yüksek gamma gecikmeli oda ödülünü taşır; düşük lr güncellemeyi kararlı tutar; ikisi birlikte en iyi.  Sonuç: Seçilen (gamma=0.98, lr=3e-4) bu en iyi bölgenin içinde; ızgara seçimi doğrular.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13 — Değer Fonksiyonu Kalitesi (explained_variance)</a:t>
            </a:r>
          </a:p>
        </p:txBody>
      </p:sp>
      <p:pic>
        <p:nvPicPr>
          <p:cNvPr id="4" name="Picture 3" descr="13_explained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48601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Açıklanan varyans eğitim boyunca yükselip 1'e (ideal) yaklaşır.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5 tohumda da kritik getirinin varyansını büyük ölçüde açıklar hale gelir.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Kritik durum değerlerini giderek isabetli tahmin eder; GAE avantajları güvenilirleşir.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Yüksek açıklanan varyans, politika gradyanının düşük-varyanslı ve sağlıklı olduğunun kanıtıdır.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123 — Detaylı Panel (getiri / eval / kapsama / oda)</a:t>
            </a:r>
          </a:p>
        </p:txBody>
      </p:sp>
      <p:pic>
        <p:nvPicPr>
          <p:cNvPr id="4" name="Picture 3" descr="per_seed_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42 — Detaylı Panel (getiri / eval / kapsama / oda)</a:t>
            </a:r>
          </a:p>
        </p:txBody>
      </p:sp>
      <p:pic>
        <p:nvPicPr>
          <p:cNvPr id="4" name="Picture 3" descr="per_seed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7 — Detaylı Panel (getiri / eval / kapsama / oda)</a:t>
            </a:r>
          </a:p>
        </p:txBody>
      </p:sp>
      <p:pic>
        <p:nvPicPr>
          <p:cNvPr id="4" name="Picture 3" descr="per_seed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13 — Detaylı Panel (getiri / eval / kapsama / oda)</a:t>
            </a:r>
          </a:p>
        </p:txBody>
      </p:sp>
      <p:pic>
        <p:nvPicPr>
          <p:cNvPr id="4" name="Picture 3" descr="per_seed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2025 — Detaylı Panel (getiri / eval / kapsama / oda)</a:t>
            </a:r>
          </a:p>
        </p:txBody>
      </p:sp>
      <p:pic>
        <p:nvPicPr>
          <p:cNvPr id="4" name="Picture 3" descr="per_seed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PPO vs SAC — Özet (aynı ortam/seed/protokol)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0" y="1371600"/>
          <a:ext cx="9601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834640"/>
                <a:gridCol w="2834640"/>
              </a:tblGrid>
              <a:tr h="52251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PPO (bu çalışma)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SAC (M.A. Albayrak, 220202082)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Aile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on-policy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off-policy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Replay buffer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yok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var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Ort. getiri (5 tohum)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458.5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314.6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Ort. oda (/6)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5.80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4.83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Tam-keşif başarı oranı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0.96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0.34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400" b="0"/>
                        <a:t>En iyi tohum getirisi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474.6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393.7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0352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Ortam, durum/eylem uzayı, seed ve protokol birebir aynı -&gt; fark yalnızca algoritmadan.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SAC az adımda hızlı oturur (off-policy, replay buffer); PPO daha çok adımla daha yüksek nihai başarı.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↔ SAC — Öğrenme Eğrisi</a:t>
            </a:r>
          </a:p>
        </p:txBody>
      </p:sp>
      <p:pic>
        <p:nvPicPr>
          <p:cNvPr id="4" name="Picture 3" descr="KIYAS_1_ogren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59187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Sol PPO (bu çalışma), sağ SAC (M.A. Albayrak). PPO platosu (~480) SAC'ın (~390) üzerinde ve daha kararlı; SAC off-policy olduğu için daha az adımda yakınsar (örnek-verimli).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↔ SAC — Tohum 123 Detay Paneli</a:t>
            </a:r>
          </a:p>
        </p:txBody>
      </p:sp>
      <p:pic>
        <p:nvPicPr>
          <p:cNvPr id="4" name="Picture 3" descr="KIYAS_3_per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57995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Dört panelde de (getiri/eval/kapsama/oda) PPO eğrileri daha yüksek ve daha az dalgalı; ikisi de coverage'ı %90+ ve odayı 5-6'ya taşır. İki algoritma da görevi çözer, PPO daha yüksek tavanla.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↔ SAC — Baseline (görev metrikleri)</a:t>
            </a:r>
          </a:p>
        </p:txBody>
      </p:sp>
      <p:pic>
        <p:nvPicPr>
          <p:cNvPr id="4" name="Picture 3" descr="KIYAS_5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2665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Her ikisi de rastgele/sezgiseli geçer; tam-keşif başarısında PPO (~%96) SAC'ın (~%60 en iyi, %34 ort.) belirgin önünde.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↔ SAC — Hiperparametre Duyarlılığı</a:t>
            </a:r>
          </a:p>
        </p:txBody>
      </p:sp>
      <p:pic>
        <p:nvPicPr>
          <p:cNvPr id="4" name="Picture 3" descr="KIYAS_4_hiperparamet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362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İki algoritmada da orta hiperparametre değerleri en iyi (keşif-sömürü dengesi); sonuç ince ayara aşırı duyarlı değil.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↔ SAC — Loss Eğrileri</a:t>
            </a:r>
          </a:p>
        </p:txBody>
      </p:sp>
      <p:pic>
        <p:nvPicPr>
          <p:cNvPr id="4" name="Picture 3" descr="KIYAS_2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5509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PPO'da klips güncellemeleri sıkı sınırlar (actor loss küçük/yatay); SAC'ta entropi+replay ile loss daha geniş salınır. İkisi de kararlı.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↔ SAC — γ × lr Araması</a:t>
            </a:r>
          </a:p>
        </p:txBody>
      </p:sp>
      <p:pic>
        <p:nvPicPr>
          <p:cNvPr id="4" name="Picture 3" descr="KIYAS_6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4271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Her ikisinde de en iyi bölge orta-yüksek γ + düşük-orta lr köşesi; ortamın paylaşılan yapısını (gecikmeli oda ödülü) yansıtır.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Savunma 1 — Deterministik mi, Stokastik mi?  →  STOKASTİK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73737"/>
                </a:solidFill>
              </a:rPr>
              <a:t>Tanım: ortam stokastik ⇔ p(s′|s,a) dejenere DEĞİL — aynı (s,a) farklı s′ üretebilir.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73737"/>
                </a:solidFill>
              </a:rPr>
              <a:t>Stokastikliği sağlayan değerler (kod satırı ile):</a:t>
            </a:r>
          </a:p>
          <a:p>
            <a:pPr lvl="1">
              <a:spcAft>
                <a:spcPts val="700"/>
              </a:spcAft>
            </a:pPr>
            <a:r>
              <a:rPr sz="1200">
                <a:solidFill>
                  <a:srgbClr val="373737"/>
                </a:solidFill>
              </a:rPr>
              <a:t>• Rüzgar σ=0.015 → hız komutuna eklenir: vx,vy,ω += N(0,0.015)  [step(), satır 133-135] — GEÇİŞ gürültüsü.</a:t>
            </a:r>
          </a:p>
          <a:p>
            <a:pPr lvl="1">
              <a:spcAft>
                <a:spcPts val="700"/>
              </a:spcAft>
            </a:pPr>
            <a:r>
              <a:rPr sz="1200">
                <a:solidFill>
                  <a:srgbClr val="373737"/>
                </a:solidFill>
              </a:rPr>
              <a:t>• Lidar σ=0.015 → her ışın mesafesine  [_compute_lidar, 319-320] — gözlem gürültüsü.</a:t>
            </a:r>
          </a:p>
          <a:p>
            <a:pPr lvl="1">
              <a:spcAft>
                <a:spcPts val="700"/>
              </a:spcAft>
            </a:pPr>
            <a:r>
              <a:rPr sz="1200">
                <a:solidFill>
                  <a:srgbClr val="373737"/>
                </a:solidFill>
              </a:rPr>
              <a:t>• Odometri σ=0.004 → ölçülen poz/yaw'a  [_make_obs, 233-236] — gözlem gürültüsü.</a:t>
            </a:r>
          </a:p>
          <a:p>
            <a:pPr lvl="1">
              <a:spcAft>
                <a:spcPts val="700"/>
              </a:spcAft>
            </a:pPr>
            <a:r>
              <a:rPr sz="1200">
                <a:solidFill>
                  <a:srgbClr val="373737"/>
                </a:solidFill>
              </a:rPr>
              <a:t>• 3 hareketli engel, sinüzoidal/zaman-değişken  [_moving_obstacles, 203-206].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73737"/>
                </a:solidFill>
              </a:rPr>
              <a:t>Örnek: drone (5,5), eylem 'tam ileri'. Gürültüsüz s′=(5.144, 5.0); ama vx+=ε → her oynatımda farklı → s′ bir DAĞILIM (tek nokta değil).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73737"/>
                </a:solidFill>
              </a:rPr>
              <a:t>Aynı tohum = sadece TEKRARLANABİLİRLİK (deterministik değil). Başlangıç rastgeleliği TEK BAŞINA stokastiklik değildir; stokastiklik geçiş+gözlem gürültüsünden gelir.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Savunma 2 — On-policy mi, Off-policy mi?  →  ON-POLICY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Davranış politikası = hedef politika (aynı π_θ). Veri güncel π_θ ile toplanır, n_epochs sonra ATILIR; replay buffer YOK.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Bu on-policy'nin tanımı; SAC/DQN'in (replay buffer'lı off-policy) tersi.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Neden örnek-verimsiz? Her veri yalnız 1 kez kullanılır; politika değişince eski veri off-policy olup atılır → daha çok çevre etkileşimi (8 paralel ortam telafi).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SARSA vs Q-Learning (tek satır fark): SARSA hedefi Q(s′,a′) (davranıştan a′, on-policy); Q-Learning max_a Q(s′,a) (greedy hedef, off-policy).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Off-policy avantajı: replay ile veriyi tekrar kullanır (örnek-verimli); riski: eski veri güncel politikadan sapabilir (kararlılık).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Savunma 3 — Markov Özelliği?  →  YAKLAŞIK Markov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Tanım: P(s_{t+1}|s_t,a_t) = P(s_{t+1}|s_t,a_t,...,s_0) — gelecek yalnız şimdiki duruma bağlı, geçmişe değil.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Durumda önceki eylem(3) VAR → HIZ/momentum bilgisini taşır (top örneği: yalnız konum Markov değil, konum+hız Markov).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Eksik bilgi: hareketli engel konumu t'nin fonksiyonu (sin(2πt/T)) ama durum t'yi/engel fazını AÇIKÇA içermez → engelin gelecek yeri tek gözlemden tam belirlenemez → YAKLAŞIK Markov.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Atari: tek kare hızı vermez (Markov değil), DeepMind 4 kare istifledi; bizdeki karşılık önceki eylemi durumda tutmak.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Markov değilse 2 çözüm: (i) durumu zenginleştir (hız/faz ekle — biz önceki eylemi ekledik), (ii) bellek (RNN/LSTM, kare istifleme).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Savunma 4 — Kısmi Gözlemlenebilir mi?  →  EVET (POMDP)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73737"/>
                </a:solidFill>
              </a:rPr>
              <a:t>Gerçek durum s: drone'un GERÇEK konum/yaw'ı, TÜM engellerin gerçek konumu, haritanın tam geometrisi.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73737"/>
                </a:solidFill>
              </a:rPr>
              <a:t>Gözlem o: GÜRÜLTÜLÜ lidar (yalnız görüş hattı) + GÜRÜLTÜLÜ odometri poz/yaw + keşif istatistikleri.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73737"/>
                </a:solidFill>
              </a:rPr>
              <a:t>Aradaki boşluk (eksik bilgi): (i) odom gürültüsü → ajan gerçek konumu TAM bilmez; (ii) lidar duvar ARKASINI görmez; (iii) engelin GELECEK konumu gözlemde yok.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73737"/>
                </a:solidFill>
              </a:rPr>
              <a:t>Gözlem gürültüsü tek başına değil; asıl POMDP sınırlı görüşten (duvar arkası) gelir. Vanilla DQN yetersiz → bellek (RNN) veya gözlem istifleme gerekir.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73737"/>
                </a:solidFill>
              </a:rPr>
              <a:t>Belief state: gerçek durum üzerindeki olasılık dağılımı (inanç); gözlemlerle Bayes ile güncellenir, POMDP'de optimal politika belief üzerinde tanımlıdır. Biz önceki eylem + politika bağlamıyla KISMEN telafi ederiz.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Sonuç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PPO, on-policy ve replay buffer'sız olmasına rağmen rastgele ve sezgisel taban politikalarını belirgin geçti.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5 hiperparametre (clip/ent/gamma/lr/vf) yeniden eğitilerek tarandı; seçilen taban değerler gürbüz orta nokta.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Akif'in yayınlanmış SAC grafikleriyle yan-yana kıyas, on-policy/off-policy ayrımını gösterdi.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Tüm grafikler sonuclar/loglar/ altındaki ham loglardan yeniden üretilebilir.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