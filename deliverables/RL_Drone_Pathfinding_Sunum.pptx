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5fb3985bed4212" /><Relationship Type="http://schemas.openxmlformats.org/officeDocument/2006/relationships/extended-properties" Target="/docProps/app.xml" Id="Ra4108927e4674280" /><Relationship Type="http://schemas.openxmlformats.org/officeDocument/2006/relationships/officeDocument" Target="/ppt/presentation.xml" Id="R7feba3bae3e34f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0be3f109b14f0d"/>
  </p:sldMasterIdLst>
  <p:notesMasterIdLst>
    <p:notesMasterId xmlns:r="http://schemas.openxmlformats.org/officeDocument/2006/relationships" r:id="R7b30e60c486c49cf"/>
  </p:notesMasterIdLst>
  <p:sldIdLst>
    <p:sldId xmlns:r="http://schemas.openxmlformats.org/officeDocument/2006/relationships" id="256" r:id="Rb9395ea56f9a4c2f"/>
    <p:sldId xmlns:r="http://schemas.openxmlformats.org/officeDocument/2006/relationships" id="257" r:id="R39371aa9bfe64b65"/>
    <p:sldId xmlns:r="http://schemas.openxmlformats.org/officeDocument/2006/relationships" id="258" r:id="Rd0226a8f59084c22"/>
    <p:sldId xmlns:r="http://schemas.openxmlformats.org/officeDocument/2006/relationships" id="259" r:id="R4410b476fa364211"/>
    <p:sldId xmlns:r="http://schemas.openxmlformats.org/officeDocument/2006/relationships" id="260" r:id="R0821f7c67f9a4ac4"/>
    <p:sldId xmlns:r="http://schemas.openxmlformats.org/officeDocument/2006/relationships" id="261" r:id="R589a9ea314224921"/>
    <p:sldId xmlns:r="http://schemas.openxmlformats.org/officeDocument/2006/relationships" id="262" r:id="R596bb92c239149d8"/>
    <p:sldId xmlns:r="http://schemas.openxmlformats.org/officeDocument/2006/relationships" id="263" r:id="R8a8b86ad47e64488"/>
    <p:sldId xmlns:r="http://schemas.openxmlformats.org/officeDocument/2006/relationships" id="264" r:id="Rfd3b65e455f84a45"/>
    <p:sldId xmlns:r="http://schemas.openxmlformats.org/officeDocument/2006/relationships" id="265" r:id="Rd4578ede253e4b3a"/>
    <p:sldId xmlns:r="http://schemas.openxmlformats.org/officeDocument/2006/relationships" id="266" r:id="R2c583bf0a2a44d25"/>
    <p:sldId xmlns:r="http://schemas.openxmlformats.org/officeDocument/2006/relationships" id="267" r:id="R955254bf52e046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be3f109b14f0d" /><Relationship Type="http://schemas.openxmlformats.org/officeDocument/2006/relationships/theme" Target="/ppt/theme/theme1.xml" Id="Rb9e6dc1a58c14040" /><Relationship Type="http://schemas.openxmlformats.org/officeDocument/2006/relationships/notesMaster" Target="/ppt/notesMasters/notesMaster1.xml" Id="R7b30e60c486c49cf" /><Relationship Type="http://schemas.openxmlformats.org/officeDocument/2006/relationships/presProps" Target="/ppt/presProps.xml" Id="Rd1351e3257164638" /><Relationship Type="http://schemas.openxmlformats.org/officeDocument/2006/relationships/viewProps" Target="/ppt/viewProps.xml" Id="Rabb5324851c94a50" /><Relationship Type="http://schemas.openxmlformats.org/officeDocument/2006/relationships/tableStyles" Target="/ppt/tableStyles.xml" Id="Rb0ca2bd621fb4abe" /><Relationship Type="http://schemas.openxmlformats.org/officeDocument/2006/relationships/slide" Target="/ppt/slides/slide1.xml" Id="Rb9395ea56f9a4c2f" /><Relationship Type="http://schemas.openxmlformats.org/officeDocument/2006/relationships/slide" Target="/ppt/slides/slide2.xml" Id="R39371aa9bfe64b65" /><Relationship Type="http://schemas.openxmlformats.org/officeDocument/2006/relationships/slide" Target="/ppt/slides/slide3.xml" Id="Rd0226a8f59084c22" /><Relationship Type="http://schemas.openxmlformats.org/officeDocument/2006/relationships/slide" Target="/ppt/slides/slide4.xml" Id="R4410b476fa364211" /><Relationship Type="http://schemas.openxmlformats.org/officeDocument/2006/relationships/slide" Target="/ppt/slides/slide5.xml" Id="R0821f7c67f9a4ac4" /><Relationship Type="http://schemas.openxmlformats.org/officeDocument/2006/relationships/slide" Target="/ppt/slides/slide6.xml" Id="R589a9ea314224921" /><Relationship Type="http://schemas.openxmlformats.org/officeDocument/2006/relationships/slide" Target="/ppt/slides/slide7.xml" Id="R596bb92c239149d8" /><Relationship Type="http://schemas.openxmlformats.org/officeDocument/2006/relationships/slide" Target="/ppt/slides/slide8.xml" Id="R8a8b86ad47e64488" /><Relationship Type="http://schemas.openxmlformats.org/officeDocument/2006/relationships/slide" Target="/ppt/slides/slide9.xml" Id="Rfd3b65e455f84a45" /><Relationship Type="http://schemas.openxmlformats.org/officeDocument/2006/relationships/slide" Target="/ppt/slides/slide10.xml" Id="Rd4578ede253e4b3a" /><Relationship Type="http://schemas.openxmlformats.org/officeDocument/2006/relationships/slide" Target="/ppt/slides/slide11.xml" Id="R2c583bf0a2a44d25" /><Relationship Type="http://schemas.openxmlformats.org/officeDocument/2006/relationships/slide" Target="/ppt/slides/slide12.xml" Id="R955254bf52e046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1682e373a1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bdd51bc354e9c" /><Relationship Type="http://schemas.openxmlformats.org/officeDocument/2006/relationships/notesMaster" Target="/ppt/notesMasters/notesMaster1.xml" Id="Re6e62b345991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ce4517e2f14d77" /><Relationship Type="http://schemas.openxmlformats.org/officeDocument/2006/relationships/notesMaster" Target="/ppt/notesMasters/notesMaster1.xml" Id="R68b59fe0ce2e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2462ecb8c4a95" /><Relationship Type="http://schemas.openxmlformats.org/officeDocument/2006/relationships/notesMaster" Target="/ppt/notesMasters/notesMaster1.xml" Id="R82c77fc639ee48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b9e2e7f234031" /><Relationship Type="http://schemas.openxmlformats.org/officeDocument/2006/relationships/notesMaster" Target="/ppt/notesMasters/notesMaster1.xml" Id="R7a9a923ff84f40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deba50b614507" /><Relationship Type="http://schemas.openxmlformats.org/officeDocument/2006/relationships/notesMaster" Target="/ppt/notesMasters/notesMaster1.xml" Id="Ra4d1dc48173541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aea633977145f9" /><Relationship Type="http://schemas.openxmlformats.org/officeDocument/2006/relationships/notesMaster" Target="/ppt/notesMasters/notesMaster1.xml" Id="Rbeb8d8d33c774a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f8aac1d1b74a06" /><Relationship Type="http://schemas.openxmlformats.org/officeDocument/2006/relationships/notesMaster" Target="/ppt/notesMasters/notesMaster1.xml" Id="R04e0d46a56a7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3e2616e1714454" /><Relationship Type="http://schemas.openxmlformats.org/officeDocument/2006/relationships/notesMaster" Target="/ppt/notesMasters/notesMaster1.xml" Id="Reb41ee72d99b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490ccf29964d50" /><Relationship Type="http://schemas.openxmlformats.org/officeDocument/2006/relationships/notesMaster" Target="/ppt/notesMasters/notesMaster1.xml" Id="R5ff022d73c004c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109987b6194cac" /><Relationship Type="http://schemas.openxmlformats.org/officeDocument/2006/relationships/notesMaster" Target="/ppt/notesMasters/notesMaster1.xml" Id="R79d32090a52348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7cbe0a4109436c" /><Relationship Type="http://schemas.openxmlformats.org/officeDocument/2006/relationships/notesMaster" Target="/ppt/notesMasters/notesMaster1.xml" Id="Rcb03fa594e6340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582b6c11d544ae" /><Relationship Type="http://schemas.openxmlformats.org/officeDocument/2006/relationships/notesMaster" Target="/ppt/notesMasters/notesMaster1.xml" Id="Rbe71513bc6df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2a8bba1ec4b6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623cef355f4bf9" /><Relationship Type="http://schemas.openxmlformats.org/officeDocument/2006/relationships/slideLayout" Target="/ppt/slideLayouts/slideLayout2.xml" Id="Red9025c24b30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9025c24b30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6653dc3db414d" /><Relationship Type="http://schemas.openxmlformats.org/officeDocument/2006/relationships/notesSlide" Target="/ppt/notesSlides/notesSlide1.xml" Id="R62e33eba38f8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5062bbde544b6" /><Relationship Type="http://schemas.openxmlformats.org/officeDocument/2006/relationships/notesSlide" Target="/ppt/notesSlides/notesSlide2.xml" Id="R4472daf4aec14e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e5b6ce3a174c0c" /><Relationship Type="http://schemas.openxmlformats.org/officeDocument/2006/relationships/image" Target="/ppt/media/image.png" Id="Rb85bc8885a1847eb" /><Relationship Type="http://schemas.openxmlformats.org/officeDocument/2006/relationships/notesSlide" Target="/ppt/notesSlides/notesSlide3.xml" Id="R1d14c2274e5e4d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e7e28d3724c4a" /><Relationship Type="http://schemas.openxmlformats.org/officeDocument/2006/relationships/image" Target="/ppt/media/image2.png" Id="R3807a81360e54e8d" /><Relationship Type="http://schemas.openxmlformats.org/officeDocument/2006/relationships/notesSlide" Target="/ppt/notesSlides/notesSlide4.xml" Id="Rb13c32d083104e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62d37e35274d9d" /><Relationship Type="http://schemas.openxmlformats.org/officeDocument/2006/relationships/notesSlide" Target="/ppt/notesSlides/notesSlide5.xml" Id="R822fe2aa4bdf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334ef51a24a9c" /><Relationship Type="http://schemas.openxmlformats.org/officeDocument/2006/relationships/notesSlide" Target="/ppt/notesSlides/notesSlide6.xml" Id="Raab96cfaf0854a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419b8eadd74a14" /><Relationship Type="http://schemas.openxmlformats.org/officeDocument/2006/relationships/image" Target="/ppt/media/image3.png" Id="Rf0cc59f89ed64005" /><Relationship Type="http://schemas.openxmlformats.org/officeDocument/2006/relationships/notesSlide" Target="/ppt/notesSlides/notesSlide7.xml" Id="Rcca3eefb5f6c45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45285e1fb5422c" /><Relationship Type="http://schemas.openxmlformats.org/officeDocument/2006/relationships/notesSlide" Target="/ppt/notesSlides/notesSlide8.xml" Id="R6ae4d8a197cd44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9fa6eaa7545c0" /><Relationship Type="http://schemas.openxmlformats.org/officeDocument/2006/relationships/image" Target="/ppt/media/image4.png" Id="R23c97844ee814b14" /><Relationship Type="http://schemas.openxmlformats.org/officeDocument/2006/relationships/notesSlide" Target="/ppt/notesSlides/notesSlide9.xml" Id="R723de3e8f7564e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bde70689054313" /><Relationship Type="http://schemas.openxmlformats.org/officeDocument/2006/relationships/image" Target="/ppt/media/image5.png" Id="Rf756c1fdf1ff4a69" /><Relationship Type="http://schemas.openxmlformats.org/officeDocument/2006/relationships/notesSlide" Target="/ppt/notesSlides/notesSlide10.xml" Id="R5b5c5346f55a48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dd1c59d0c44c30" /><Relationship Type="http://schemas.openxmlformats.org/officeDocument/2006/relationships/image" Target="/ppt/media/image6.png" Id="R77e950d8ad174ba6" /><Relationship Type="http://schemas.openxmlformats.org/officeDocument/2006/relationships/notesSlide" Target="/ppt/notesSlides/notesSlide11.xml" Id="Re1c5323be00f4f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0b341efec4ed8" /><Relationship Type="http://schemas.openxmlformats.org/officeDocument/2006/relationships/notesSlide" Target="/ppt/notesSlides/notesSlide12.xml" Id="R9c8f0cdec0ba49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1586A-CED4-48DD-811A-A20E77ED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F9706-8A49-4630-9E53-6FEFEB7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RL DRONE PATHFINDING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EEC33-D33F-49CE-8A4D-F219CD73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Kapalı alanda drone keşfi için pekiştirmeli öğrenme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D2E82-06F6-4BF0-BF4F-7DD6C0FF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Mehmet Akif Albayrak | 220202082 - Gazebo + ROS 2 + Gymnasium + SAC</a:t>
            </a:r>
          </a:p>
        </p:txBody>
      </p:sp>
      <p:sp>
        <p:nvSpPr>
          <p:cNvPr id="5" name="2D eğitim-metric-box">
            <a:extLst xmlns:a="http://schemas.openxmlformats.org/drawingml/2006/main">
              <a:ext uri="{FF2B5EF4-FFF2-40B4-BE49-F238E27FC236}">
                <a16:creationId xmlns:a16="http://schemas.microsoft.com/office/drawing/2014/main" id="{C00C1EC0-BE14-4BF0-BAEF-E081FE47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2D eğitim-value">
            <a:extLst xmlns:a="http://schemas.openxmlformats.org/drawingml/2006/main">
              <a:ext uri="{FF2B5EF4-FFF2-40B4-BE49-F238E27FC236}">
                <a16:creationId xmlns:a16="http://schemas.microsoft.com/office/drawing/2014/main" id="{C3561BB6-D834-402B-83D4-18CE5BB2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234k</a:t>
            </a:r>
          </a:p>
        </p:txBody>
      </p:sp>
      <p:sp>
        <p:nvSpPr>
          <p:cNvPr id="7" name="2D eğitim-label">
            <a:extLst xmlns:a="http://schemas.openxmlformats.org/drawingml/2006/main">
              <a:ext uri="{FF2B5EF4-FFF2-40B4-BE49-F238E27FC236}">
                <a16:creationId xmlns:a16="http://schemas.microsoft.com/office/drawing/2014/main" id="{B2478F29-ADB0-4F09-9B4F-2546779F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2D eğitim</a:t>
            </a:r>
          </a:p>
        </p:txBody>
      </p:sp>
      <p:sp>
        <p:nvSpPr>
          <p:cNvPr id="8" name="2D eğitim-sub">
            <a:extLst xmlns:a="http://schemas.openxmlformats.org/drawingml/2006/main">
              <a:ext uri="{FF2B5EF4-FFF2-40B4-BE49-F238E27FC236}">
                <a16:creationId xmlns:a16="http://schemas.microsoft.com/office/drawing/2014/main" id="{7843B72B-60E0-4AC0-8F5B-6A09A96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timestep</a:t>
            </a:r>
          </a:p>
        </p:txBody>
      </p:sp>
      <p:sp>
        <p:nvSpPr>
          <p:cNvPr id="9" name="Son 50 reward-metric-box">
            <a:extLst xmlns:a="http://schemas.openxmlformats.org/drawingml/2006/main">
              <a:ext uri="{FF2B5EF4-FFF2-40B4-BE49-F238E27FC236}">
                <a16:creationId xmlns:a16="http://schemas.microsoft.com/office/drawing/2014/main" id="{CB37833E-11B0-407A-8EFC-793DABD8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Son 50 reward-value">
            <a:extLst xmlns:a="http://schemas.openxmlformats.org/drawingml/2006/main">
              <a:ext uri="{FF2B5EF4-FFF2-40B4-BE49-F238E27FC236}">
                <a16:creationId xmlns:a16="http://schemas.microsoft.com/office/drawing/2014/main" id="{32A153F3-7B3A-46EB-A5C8-F4214BD8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910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392.3</a:t>
            </a:r>
          </a:p>
        </p:txBody>
      </p:sp>
      <p:sp>
        <p:nvSpPr>
          <p:cNvPr id="11" name="Son 50 reward-label">
            <a:extLst xmlns:a="http://schemas.openxmlformats.org/drawingml/2006/main">
              <a:ext uri="{FF2B5EF4-FFF2-40B4-BE49-F238E27FC236}">
                <a16:creationId xmlns:a16="http://schemas.microsoft.com/office/drawing/2014/main" id="{0EC3FA70-4968-455F-8BAE-26C9926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149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Son 50 reward</a:t>
            </a:r>
          </a:p>
        </p:txBody>
      </p:sp>
      <p:sp>
        <p:nvSpPr>
          <p:cNvPr id="12" name="Son 50 reward-sub">
            <a:extLst xmlns:a="http://schemas.openxmlformats.org/drawingml/2006/main">
              <a:ext uri="{FF2B5EF4-FFF2-40B4-BE49-F238E27FC236}">
                <a16:creationId xmlns:a16="http://schemas.microsoft.com/office/drawing/2014/main" id="{1525C111-C051-4C0E-B882-856B3237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ortalama</a:t>
            </a:r>
          </a:p>
        </p:txBody>
      </p:sp>
      <p:sp>
        <p:nvSpPr>
          <p:cNvPr id="13" name="Max oda-metric-box">
            <a:extLst xmlns:a="http://schemas.openxmlformats.org/drawingml/2006/main">
              <a:ext uri="{FF2B5EF4-FFF2-40B4-BE49-F238E27FC236}">
                <a16:creationId xmlns:a16="http://schemas.microsoft.com/office/drawing/2014/main" id="{BD73047E-CEA6-42E2-A600-5764AC6E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Max oda-value">
            <a:extLst xmlns:a="http://schemas.openxmlformats.org/drawingml/2006/main">
              <a:ext uri="{FF2B5EF4-FFF2-40B4-BE49-F238E27FC236}">
                <a16:creationId xmlns:a16="http://schemas.microsoft.com/office/drawing/2014/main" id="{1A72C64E-78A6-4FAB-8B2D-B099640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910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6/6</a:t>
            </a:r>
          </a:p>
        </p:txBody>
      </p:sp>
      <p:sp>
        <p:nvSpPr>
          <p:cNvPr id="15" name="Max oda-label">
            <a:extLst xmlns:a="http://schemas.openxmlformats.org/drawingml/2006/main">
              <a:ext uri="{FF2B5EF4-FFF2-40B4-BE49-F238E27FC236}">
                <a16:creationId xmlns:a16="http://schemas.microsoft.com/office/drawing/2014/main" id="{812CEDC1-E676-47D2-A81E-818BC83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149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Max oda</a:t>
            </a:r>
          </a:p>
        </p:txBody>
      </p:sp>
      <p:sp>
        <p:nvSpPr>
          <p:cNvPr id="16" name="Max oda-sub">
            <a:extLst xmlns:a="http://schemas.openxmlformats.org/drawingml/2006/main">
              <a:ext uri="{FF2B5EF4-FFF2-40B4-BE49-F238E27FC236}">
                <a16:creationId xmlns:a16="http://schemas.microsoft.com/office/drawing/2014/main" id="{EFA09B05-1B5F-4D5E-BF01-70066B5D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054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hızlı 2D</a:t>
            </a:r>
          </a:p>
        </p:txBody>
      </p:sp>
      <p:sp>
        <p:nvSpPr>
          <p:cNvPr id="17" name="Gazebo eval-metric-box">
            <a:extLst xmlns:a="http://schemas.openxmlformats.org/drawingml/2006/main">
              <a:ext uri="{FF2B5EF4-FFF2-40B4-BE49-F238E27FC236}">
                <a16:creationId xmlns:a16="http://schemas.microsoft.com/office/drawing/2014/main" id="{34893A0C-C034-4A0C-8981-B9CA990E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Gazebo eval-value">
            <a:extLst xmlns:a="http://schemas.openxmlformats.org/drawingml/2006/main">
              <a:ext uri="{FF2B5EF4-FFF2-40B4-BE49-F238E27FC236}">
                <a16:creationId xmlns:a16="http://schemas.microsoft.com/office/drawing/2014/main" id="{D087D6C6-AC2C-479D-8409-4A705A6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91050"/>
            <a:ext cx="2028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Gazebo eval-label">
            <a:extLst xmlns:a="http://schemas.openxmlformats.org/drawingml/2006/main">
              <a:ext uri="{FF2B5EF4-FFF2-40B4-BE49-F238E27FC236}">
                <a16:creationId xmlns:a16="http://schemas.microsoft.com/office/drawing/2014/main" id="{2575496C-2CD4-4C2A-82EA-4C8A32D1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149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Gazebo eval</a:t>
            </a:r>
          </a:p>
        </p:txBody>
      </p:sp>
      <p:sp>
        <p:nvSpPr>
          <p:cNvPr id="20" name="Gazebo eval-sub">
            <a:extLst xmlns:a="http://schemas.openxmlformats.org/drawingml/2006/main">
              <a:ext uri="{FF2B5EF4-FFF2-40B4-BE49-F238E27FC236}">
                <a16:creationId xmlns:a16="http://schemas.microsoft.com/office/drawing/2014/main" id="{7A798B44-E7E1-4CDA-A7BA-3543265D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çarpışma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3E85F-32A3-426E-8B89-4029E074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62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>
              <a:alpha val="12549"/>
            </a:srgbClr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0AE38-738A-403D-823A-6012FEA1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00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BFDBF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7882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F3E8992-A2F5-4EFE-AA5A-C603416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1FBF5B0-E2D7-4EC1-8320-D3A1BD17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CD274D-F25A-4677-80CF-4D06C16D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PROJE AMACI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445C470-6A8D-4C55-B43C-1719DBF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Drone yalnızca hedefe gitmez; güvenli biçimde yeni alan keşfetmeyi öğrenir.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B1685CD-9F70-4ACE-A8B2-31310280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0D6CF7C-6C15-45AF-93FD-DA5B803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Problem-box">
            <a:extLst xmlns:a="http://schemas.openxmlformats.org/drawingml/2006/main">
              <a:ext uri="{FF2B5EF4-FFF2-40B4-BE49-F238E27FC236}">
                <a16:creationId xmlns:a16="http://schemas.microsoft.com/office/drawing/2014/main" id="{6BD528BD-6D7B-4271-A5FC-8B0180C7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C7BBD551-9565-4ECE-98DF-57B1FF70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9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03F9CBEB-9CBD-4EEB-A27D-506016B0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800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Kapalı alanlarda GPS yoktur; dar kapılar, duvarlar ve hareketli engeller lokal kararları zorlaştırır.</a:t>
            </a:r>
          </a:p>
        </p:txBody>
      </p:sp>
      <p:sp>
        <p:nvSpPr>
          <p:cNvPr id="10" name="Amaç-box">
            <a:extLst xmlns:a="http://schemas.openxmlformats.org/drawingml/2006/main">
              <a:ext uri="{FF2B5EF4-FFF2-40B4-BE49-F238E27FC236}">
                <a16:creationId xmlns:a16="http://schemas.microsoft.com/office/drawing/2014/main" id="{D44518EA-49D5-4632-BEFE-77CE1DA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Amaç-title">
            <a:extLst xmlns:a="http://schemas.openxmlformats.org/drawingml/2006/main">
              <a:ext uri="{FF2B5EF4-FFF2-40B4-BE49-F238E27FC236}">
                <a16:creationId xmlns:a16="http://schemas.microsoft.com/office/drawing/2014/main" id="{5B75EB10-4999-487F-A869-166CD3F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Amaç</a:t>
            </a:r>
          </a:p>
        </p:txBody>
      </p:sp>
      <p:sp>
        <p:nvSpPr>
          <p:cNvPr id="12" name="Amaç-body">
            <a:extLst xmlns:a="http://schemas.openxmlformats.org/drawingml/2006/main">
              <a:ext uri="{FF2B5EF4-FFF2-40B4-BE49-F238E27FC236}">
                <a16:creationId xmlns:a16="http://schemas.microsoft.com/office/drawing/2014/main" id="{4933F49B-40E1-430E-8E83-69DB5A2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2800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Lidar ve odometri ile yeni hücreleri ve odaları keşfetmek, sürekli hız komutları üretmek.</a:t>
            </a:r>
          </a:p>
        </p:txBody>
      </p:sp>
      <p:sp>
        <p:nvSpPr>
          <p:cNvPr id="13" name="Başarı-box">
            <a:extLst xmlns:a="http://schemas.openxmlformats.org/drawingml/2006/main">
              <a:ext uri="{FF2B5EF4-FFF2-40B4-BE49-F238E27FC236}">
                <a16:creationId xmlns:a16="http://schemas.microsoft.com/office/drawing/2014/main" id="{C53D096D-6FAB-4E1D-A038-2C77CB74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Başarı-title">
            <a:extLst xmlns:a="http://schemas.openxmlformats.org/drawingml/2006/main">
              <a:ext uri="{FF2B5EF4-FFF2-40B4-BE49-F238E27FC236}">
                <a16:creationId xmlns:a16="http://schemas.microsoft.com/office/drawing/2014/main" id="{C74AB534-DF94-451E-A0E5-E2C3245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Başarı</a:t>
            </a:r>
          </a:p>
        </p:txBody>
      </p:sp>
      <p:sp>
        <p:nvSpPr>
          <p:cNvPr id="15" name="Başarı-body">
            <a:extLst xmlns:a="http://schemas.openxmlformats.org/drawingml/2006/main">
              <a:ext uri="{FF2B5EF4-FFF2-40B4-BE49-F238E27FC236}">
                <a16:creationId xmlns:a16="http://schemas.microsoft.com/office/drawing/2014/main" id="{F7519DB6-02D7-490A-AA86-28530B26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800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Daha fazla keşfedilen hücre, daha çok oda, daha az çarpışma ve kararlı episode ödülü.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A96CD-2FB9-4E54-A089-A65B8C2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Temel fikir: keşfi ödüllendir, riskli yakınlığı cezalandır, Gazebo ile doğrula, 2D ortamla hızlı dene.</a:t>
            </a:r>
          </a:p>
        </p:txBody>
      </p:sp>
    </p:spTree>
    <p:extLst>
      <p:ext uri="{BB962C8B-B14F-4D97-AF65-F5344CB8AC3E}">
        <p14:creationId xmlns:p14="http://schemas.microsoft.com/office/powerpoint/2010/main" val="20714668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6C6153C-8073-4014-A198-569ADFA9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381773-D061-4F3A-92B1-0C871EEE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A4FC28-5A4E-45D4-AA64-625248D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GAZEBO ORTAMI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D7F6E4E-508D-4626-B96F-84A39ED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Asimetrik kapılar, hareketli engeller ve kapalı tavan keşfi zorlaştırır.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B30C9FD-7AE7-4B2A-9F2C-F607D66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554E07-A0EC-4798-9D0F-219C29FF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8885a1847eb"/>
          <a:stretch xmlns:a="http://schemas.openxmlformats.org/drawingml/2006/main"/>
        </p:blipFill>
        <p:spPr>
          <a:xfrm xmlns:a="http://schemas.openxmlformats.org/drawingml/2006/main">
            <a:off x="958850" y="1428750"/>
            <a:ext cx="635000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Dünya-box">
            <a:extLst xmlns:a="http://schemas.openxmlformats.org/drawingml/2006/main">
              <a:ext uri="{FF2B5EF4-FFF2-40B4-BE49-F238E27FC236}">
                <a16:creationId xmlns:a16="http://schemas.microsoft.com/office/drawing/2014/main" id="{4C255BF0-DB50-4091-87A3-9E6AB1AD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Dünya-title">
            <a:extLst xmlns:a="http://schemas.openxmlformats.org/drawingml/2006/main">
              <a:ext uri="{FF2B5EF4-FFF2-40B4-BE49-F238E27FC236}">
                <a16:creationId xmlns:a16="http://schemas.microsoft.com/office/drawing/2014/main" id="{992ED8DF-A968-4012-A679-9B27480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0497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Dünya</a:t>
            </a:r>
          </a:p>
        </p:txBody>
      </p:sp>
      <p:sp>
        <p:nvSpPr>
          <p:cNvPr id="10" name="Dünya-body">
            <a:extLst xmlns:a="http://schemas.openxmlformats.org/drawingml/2006/main">
              <a:ext uri="{FF2B5EF4-FFF2-40B4-BE49-F238E27FC236}">
                <a16:creationId xmlns:a16="http://schemas.microsoft.com/office/drawing/2014/main" id="{2CF92762-636A-4836-AA2F-5E27A9E7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28825"/>
            <a:ext cx="2705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16x16 m tek katlı bina, 6 oda ve 2.5 m tavan yüksekliği.</a:t>
            </a:r>
          </a:p>
        </p:txBody>
      </p:sp>
      <p:sp>
        <p:nvSpPr>
          <p:cNvPr id="11" name="Kapılar-box">
            <a:extLst xmlns:a="http://schemas.openxmlformats.org/drawingml/2006/main">
              <a:ext uri="{FF2B5EF4-FFF2-40B4-BE49-F238E27FC236}">
                <a16:creationId xmlns:a16="http://schemas.microsoft.com/office/drawing/2014/main" id="{96A733B6-7308-4318-AFE2-4A11E6C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Kapılar-title">
            <a:extLst xmlns:a="http://schemas.openxmlformats.org/drawingml/2006/main">
              <a:ext uri="{FF2B5EF4-FFF2-40B4-BE49-F238E27FC236}">
                <a16:creationId xmlns:a16="http://schemas.microsoft.com/office/drawing/2014/main" id="{728CD1F0-1457-4E9E-A460-A94817D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337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Kapılar</a:t>
            </a:r>
          </a:p>
        </p:txBody>
      </p:sp>
      <p:sp>
        <p:nvSpPr>
          <p:cNvPr id="13" name="Kapılar-body">
            <a:extLst xmlns:a="http://schemas.openxmlformats.org/drawingml/2006/main">
              <a:ext uri="{FF2B5EF4-FFF2-40B4-BE49-F238E27FC236}">
                <a16:creationId xmlns:a16="http://schemas.microsoft.com/office/drawing/2014/main" id="{E2A61EB2-086C-4BAA-A6CE-6E21822B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57575"/>
            <a:ext cx="2705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İç geçişler asimetrik; ajan farklı yönlerden oda değiştirmek zorunda.</a:t>
            </a:r>
          </a:p>
        </p:txBody>
      </p:sp>
      <p:sp>
        <p:nvSpPr>
          <p:cNvPr id="14" name="Engeller-box">
            <a:extLst xmlns:a="http://schemas.openxmlformats.org/drawingml/2006/main">
              <a:ext uri="{FF2B5EF4-FFF2-40B4-BE49-F238E27FC236}">
                <a16:creationId xmlns:a16="http://schemas.microsoft.com/office/drawing/2014/main" id="{241F7F0D-2516-4C61-8254-4A84252E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04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Engeller-title">
            <a:extLst xmlns:a="http://schemas.openxmlformats.org/drawingml/2006/main">
              <a:ext uri="{FF2B5EF4-FFF2-40B4-BE49-F238E27FC236}">
                <a16:creationId xmlns:a16="http://schemas.microsoft.com/office/drawing/2014/main" id="{3418090A-C186-47B3-854A-69D85932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6247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Engeller</a:t>
            </a:r>
          </a:p>
        </p:txBody>
      </p:sp>
      <p:sp>
        <p:nvSpPr>
          <p:cNvPr id="16" name="Engeller-body">
            <a:extLst xmlns:a="http://schemas.openxmlformats.org/drawingml/2006/main">
              <a:ext uri="{FF2B5EF4-FFF2-40B4-BE49-F238E27FC236}">
                <a16:creationId xmlns:a16="http://schemas.microsoft.com/office/drawing/2014/main" id="{BFBF10DB-C5DB-4551-97E0-6832ACD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86325"/>
            <a:ext cx="2705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3 hareketli silindir lidar ve çarpışma davranışını test eder.</a:t>
            </a:r>
          </a:p>
        </p:txBody>
      </p:sp>
    </p:spTree>
    <p:extLst>
      <p:ext uri="{BB962C8B-B14F-4D97-AF65-F5344CB8AC3E}">
        <p14:creationId xmlns:p14="http://schemas.microsoft.com/office/powerpoint/2010/main" val="95694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496524C-18E4-4334-91D5-6F7A00D0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DDFF24-DF07-44D0-B94D-690CBAD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8CC45B-95C2-47C9-B2C1-F710E449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SİSTEM MİMARİSİ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C382CE8-6EFA-4CBC-8D8F-9D6871FB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ROS 2 köprüsü Gazebo sensörlerini Gymnasium step döngüsüne bağlar.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1F06A81-C2F8-4022-9EAC-A9CA202E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0A1C2B5-C284-435D-BC7C-1C1F49F2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7a81360e54e8d"/>
          <a:stretch xmlns:a="http://schemas.openxmlformats.org/drawingml/2006/main"/>
        </p:blipFill>
        <p:spPr>
          <a:xfrm xmlns:a="http://schemas.openxmlformats.org/drawingml/2006/main">
            <a:off x="2032000" y="1381125"/>
            <a:ext cx="79375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471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3C04241-0A38-4CC1-82A7-2FF33E8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16CA88-A13C-446E-8B86-6C3D6DF7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C3B89C-EA83-4AD3-B0CC-486E2567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MDP TASARIMI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9297833-186E-4329-908A-3ECC0200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Gözlem lokal güvenliği ve global keşif ilerlemesini birlikte taşır.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35BE584-48AC-44D7-9CDB-71A5405E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B547C1-8A22-41D9-86A7-3301DD5B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özlem-metric-box">
            <a:extLst xmlns:a="http://schemas.openxmlformats.org/drawingml/2006/main">
              <a:ext uri="{FF2B5EF4-FFF2-40B4-BE49-F238E27FC236}">
                <a16:creationId xmlns:a16="http://schemas.microsoft.com/office/drawing/2014/main" id="{D4CD34AB-02DB-4561-8BE8-4E547826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Gözlem-value">
            <a:extLst xmlns:a="http://schemas.openxmlformats.org/drawingml/2006/main">
              <a:ext uri="{FF2B5EF4-FFF2-40B4-BE49-F238E27FC236}">
                <a16:creationId xmlns:a16="http://schemas.microsoft.com/office/drawing/2014/main" id="{2674758E-5743-445F-983B-171C6596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145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43-D</a:t>
            </a:r>
          </a:p>
        </p:txBody>
      </p:sp>
      <p:sp>
        <p:nvSpPr>
          <p:cNvPr id="9" name="Gözlem-label">
            <a:extLst xmlns:a="http://schemas.openxmlformats.org/drawingml/2006/main">
              <a:ext uri="{FF2B5EF4-FFF2-40B4-BE49-F238E27FC236}">
                <a16:creationId xmlns:a16="http://schemas.microsoft.com/office/drawing/2014/main" id="{2565A631-86F7-4E72-BE3F-A50D0769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Gözlem</a:t>
            </a:r>
          </a:p>
        </p:txBody>
      </p:sp>
      <p:sp>
        <p:nvSpPr>
          <p:cNvPr id="10" name="Gözlem-sub">
            <a:extLst xmlns:a="http://schemas.openxmlformats.org/drawingml/2006/main">
              <a:ext uri="{FF2B5EF4-FFF2-40B4-BE49-F238E27FC236}">
                <a16:creationId xmlns:a16="http://schemas.microsoft.com/office/drawing/2014/main" id="{C05FB1B7-1CDC-4C12-A26D-C02388D3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288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32 lidar + durum</a:t>
            </a:r>
          </a:p>
        </p:txBody>
      </p:sp>
      <p:sp>
        <p:nvSpPr>
          <p:cNvPr id="11" name="Aksiyon-metric-box">
            <a:extLst xmlns:a="http://schemas.openxmlformats.org/drawingml/2006/main">
              <a:ext uri="{FF2B5EF4-FFF2-40B4-BE49-F238E27FC236}">
                <a16:creationId xmlns:a16="http://schemas.microsoft.com/office/drawing/2014/main" id="{314E19A2-C15A-4E04-8671-008378CE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02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Aksiyon-value">
            <a:extLst xmlns:a="http://schemas.openxmlformats.org/drawingml/2006/main">
              <a:ext uri="{FF2B5EF4-FFF2-40B4-BE49-F238E27FC236}">
                <a16:creationId xmlns:a16="http://schemas.microsoft.com/office/drawing/2014/main" id="{36BB5DC9-5A5A-4C43-9633-13801085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145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3-D</a:t>
            </a:r>
          </a:p>
        </p:txBody>
      </p:sp>
      <p:sp>
        <p:nvSpPr>
          <p:cNvPr id="13" name="Aksiyon-label">
            <a:extLst xmlns:a="http://schemas.openxmlformats.org/drawingml/2006/main">
              <a:ext uri="{FF2B5EF4-FFF2-40B4-BE49-F238E27FC236}">
                <a16:creationId xmlns:a16="http://schemas.microsoft.com/office/drawing/2014/main" id="{A5BB74D8-67EE-435B-8422-99D2A154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383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Aksiyon</a:t>
            </a:r>
          </a:p>
        </p:txBody>
      </p:sp>
      <p:sp>
        <p:nvSpPr>
          <p:cNvPr id="14" name="Aksiyon-sub">
            <a:extLst xmlns:a="http://schemas.openxmlformats.org/drawingml/2006/main">
              <a:ext uri="{FF2B5EF4-FFF2-40B4-BE49-F238E27FC236}">
                <a16:creationId xmlns:a16="http://schemas.microsoft.com/office/drawing/2014/main" id="{6495C5D1-6B30-49DB-A931-69F6CD82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288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vx, vy, wz</a:t>
            </a:r>
          </a:p>
        </p:txBody>
      </p:sp>
      <p:sp>
        <p:nvSpPr>
          <p:cNvPr id="15" name="Grid-metric-box">
            <a:extLst xmlns:a="http://schemas.openxmlformats.org/drawingml/2006/main">
              <a:ext uri="{FF2B5EF4-FFF2-40B4-BE49-F238E27FC236}">
                <a16:creationId xmlns:a16="http://schemas.microsoft.com/office/drawing/2014/main" id="{459E8019-9090-4589-A2A3-3A1A85D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002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Grid-value">
            <a:extLst xmlns:a="http://schemas.openxmlformats.org/drawingml/2006/main">
              <a:ext uri="{FF2B5EF4-FFF2-40B4-BE49-F238E27FC236}">
                <a16:creationId xmlns:a16="http://schemas.microsoft.com/office/drawing/2014/main" id="{7BCF69FE-447C-498D-BE94-4E19A1E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7145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17" name="Grid-label">
            <a:extLst xmlns:a="http://schemas.openxmlformats.org/drawingml/2006/main">
              <a:ext uri="{FF2B5EF4-FFF2-40B4-BE49-F238E27FC236}">
                <a16:creationId xmlns:a16="http://schemas.microsoft.com/office/drawing/2014/main" id="{7434B8D6-E5CE-4B4C-B584-13CA9896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383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Grid</a:t>
            </a:r>
          </a:p>
        </p:txBody>
      </p:sp>
      <p:sp>
        <p:nvSpPr>
          <p:cNvPr id="18" name="Grid-sub">
            <a:extLst xmlns:a="http://schemas.openxmlformats.org/drawingml/2006/main">
              <a:ext uri="{FF2B5EF4-FFF2-40B4-BE49-F238E27FC236}">
                <a16:creationId xmlns:a16="http://schemas.microsoft.com/office/drawing/2014/main" id="{02803D70-EE1B-4AB2-8BE0-C1804E1F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0.5 m hücre</a:t>
            </a:r>
          </a:p>
        </p:txBody>
      </p:sp>
      <p:sp>
        <p:nvSpPr>
          <p:cNvPr id="19" name="Episode-metric-box">
            <a:extLst xmlns:a="http://schemas.openxmlformats.org/drawingml/2006/main">
              <a:ext uri="{FF2B5EF4-FFF2-40B4-BE49-F238E27FC236}">
                <a16:creationId xmlns:a16="http://schemas.microsoft.com/office/drawing/2014/main" id="{CBD1C36A-096B-43CA-8093-E5E4CFE8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002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Episode-value">
            <a:extLst xmlns:a="http://schemas.openxmlformats.org/drawingml/2006/main">
              <a:ext uri="{FF2B5EF4-FFF2-40B4-BE49-F238E27FC236}">
                <a16:creationId xmlns:a16="http://schemas.microsoft.com/office/drawing/2014/main" id="{1F62EAC3-EFA0-43BD-B1B6-FB612F07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145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21" name="Episode-label">
            <a:extLst xmlns:a="http://schemas.openxmlformats.org/drawingml/2006/main">
              <a:ext uri="{FF2B5EF4-FFF2-40B4-BE49-F238E27FC236}">
                <a16:creationId xmlns:a16="http://schemas.microsoft.com/office/drawing/2014/main" id="{8278DF53-0EF2-47A3-9BA8-EAB83E21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383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2" name="Episode-sub">
            <a:extLst xmlns:a="http://schemas.openxmlformats.org/drawingml/2006/main">
              <a:ext uri="{FF2B5EF4-FFF2-40B4-BE49-F238E27FC236}">
                <a16:creationId xmlns:a16="http://schemas.microsoft.com/office/drawing/2014/main" id="{440FF023-95FB-4753-9617-E6F4A350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288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Gazebo step</a:t>
            </a:r>
          </a:p>
        </p:txBody>
      </p:sp>
      <p:sp>
        <p:nvSpPr>
          <p:cNvPr id="23" name="Gözlem bileşenleri-box">
            <a:extLst xmlns:a="http://schemas.openxmlformats.org/drawingml/2006/main">
              <a:ext uri="{FF2B5EF4-FFF2-40B4-BE49-F238E27FC236}">
                <a16:creationId xmlns:a16="http://schemas.microsoft.com/office/drawing/2014/main" id="{0F4E941C-E76D-4F78-B139-7D68BBEB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810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Gözlem bileşenleri-title">
            <a:extLst xmlns:a="http://schemas.openxmlformats.org/drawingml/2006/main">
              <a:ext uri="{FF2B5EF4-FFF2-40B4-BE49-F238E27FC236}">
                <a16:creationId xmlns:a16="http://schemas.microsoft.com/office/drawing/2014/main" id="{B5A84F92-7C70-4451-9F6C-DC61912A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4467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Gözlem bileşenleri</a:t>
            </a:r>
          </a:p>
        </p:txBody>
      </p:sp>
      <p:sp>
        <p:nvSpPr>
          <p:cNvPr id="25" name="Gözlem bileşenleri-body">
            <a:extLst xmlns:a="http://schemas.openxmlformats.org/drawingml/2006/main">
              <a:ext uri="{FF2B5EF4-FFF2-40B4-BE49-F238E27FC236}">
                <a16:creationId xmlns:a16="http://schemas.microsoft.com/office/drawing/2014/main" id="{B5A53B59-74EA-486D-AFBB-F35F4E6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44672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32-bin lidar, yaw, hızlar, keşif oranı, oda sayısı, min lidar, idle counter, kapı uzaklığı ve duvar yakınlığı.</a:t>
            </a:r>
          </a:p>
        </p:txBody>
      </p:sp>
      <p:sp>
        <p:nvSpPr>
          <p:cNvPr id="26" name="Footprint düzeltmesi-box">
            <a:extLst xmlns:a="http://schemas.openxmlformats.org/drawingml/2006/main">
              <a:ext uri="{FF2B5EF4-FFF2-40B4-BE49-F238E27FC236}">
                <a16:creationId xmlns:a16="http://schemas.microsoft.com/office/drawing/2014/main" id="{A84A334C-4A80-47B3-90C2-B5C0D44F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4810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Footprint düzeltmesi-title">
            <a:extLst xmlns:a="http://schemas.openxmlformats.org/drawingml/2006/main">
              <a:ext uri="{FF2B5EF4-FFF2-40B4-BE49-F238E27FC236}">
                <a16:creationId xmlns:a16="http://schemas.microsoft.com/office/drawing/2014/main" id="{545E0C38-3D66-4B42-B0B2-DDDF90ED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76600"/>
            <a:ext cx="4467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Footprint düzeltmesi</a:t>
            </a:r>
          </a:p>
        </p:txBody>
      </p:sp>
      <p:sp>
        <p:nvSpPr>
          <p:cNvPr id="28" name="Footprint düzeltmesi-body">
            <a:extLst xmlns:a="http://schemas.openxmlformats.org/drawingml/2006/main">
              <a:ext uri="{FF2B5EF4-FFF2-40B4-BE49-F238E27FC236}">
                <a16:creationId xmlns:a16="http://schemas.microsoft.com/office/drawing/2014/main" id="{0A120575-3E40-4FCC-9FAF-2B1EA0B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00450"/>
            <a:ext cx="44672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Keşif artık merkezden değil, 0.22 m drone gövde footprint’inin kapladığı tüm hücrelerden sayılır.</a:t>
            </a:r>
          </a:p>
        </p:txBody>
      </p:sp>
    </p:spTree>
    <p:extLst>
      <p:ext uri="{BB962C8B-B14F-4D97-AF65-F5344CB8AC3E}">
        <p14:creationId xmlns:p14="http://schemas.microsoft.com/office/powerpoint/2010/main" val="20062879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3C1639E-FEE8-4F1E-AF4B-F1D3B305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73AB47-7A1D-422F-806D-EDE2E1B8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BCDB0E-F2B0-4D01-A591-788A2C9E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SAC ALGORİTMASI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020B89E-952D-4CCF-8764-FAB0113D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Off-policy maksimum entropi yaklaşımı sürekli kontrolde verimli keşif sağlar.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D50BEA8-40BE-45C4-BE81-C3790A0A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AB579FC-9BC2-4F47-B0ED-1AD9D99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B413F-AF58-444C-A08E-31EA3BF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87888-D4C1-41B2-B7CF-25270AE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955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Replay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F2940-A6C8-4026-897B-67821B55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669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40139-D7BC-461F-87A9-3E88F4C6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11E1A-EB4F-4FD4-8298-B2D9173A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955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Critic Q(s,a)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679BC-7DFD-4EF1-A745-71504A4B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2669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6C378-A4DF-4F55-BD58-E799827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BAC9F-8827-4D8F-B58B-A31E62D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Actor pi(a|s)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3BAD0-E4F5-4895-800A-A61BF283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669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570CE-3C79-40E1-89E5-A930BB0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4693E-37F5-43BE-AA9E-855B97D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955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Entropy alpha</a:t>
            </a:r>
          </a:p>
        </p:txBody>
      </p:sp>
      <p:sp>
        <p:nvSpPr>
          <p:cNvPr id="18" name="Politika hedefi-box">
            <a:extLst xmlns:a="http://schemas.openxmlformats.org/drawingml/2006/main">
              <a:ext uri="{FF2B5EF4-FFF2-40B4-BE49-F238E27FC236}">
                <a16:creationId xmlns:a16="http://schemas.microsoft.com/office/drawing/2014/main" id="{56B35E0B-C03E-4D11-9A13-24B8B56D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4619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Politika hedefi-title">
            <a:extLst xmlns:a="http://schemas.openxmlformats.org/drawingml/2006/main">
              <a:ext uri="{FF2B5EF4-FFF2-40B4-BE49-F238E27FC236}">
                <a16:creationId xmlns:a16="http://schemas.microsoft.com/office/drawing/2014/main" id="{D504BCBB-5363-4CBC-AB92-2CE9BF9C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276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Politika hedefi</a:t>
            </a:r>
          </a:p>
        </p:txBody>
      </p:sp>
      <p:sp>
        <p:nvSpPr>
          <p:cNvPr id="20" name="Politika hedefi-body">
            <a:extLst xmlns:a="http://schemas.openxmlformats.org/drawingml/2006/main">
              <a:ext uri="{FF2B5EF4-FFF2-40B4-BE49-F238E27FC236}">
                <a16:creationId xmlns:a16="http://schemas.microsoft.com/office/drawing/2014/main" id="{A948FB01-A58B-4633-97E8-E4C070E4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42767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Jpi = E[alpha log pi(a|s) - Q(s,a)]. Ajan yüksek Q ararken entropiyle keşfi korur.</a:t>
            </a:r>
          </a:p>
        </p:txBody>
      </p:sp>
      <p:sp>
        <p:nvSpPr>
          <p:cNvPr id="21" name="Critic hedefi-box">
            <a:extLst xmlns:a="http://schemas.openxmlformats.org/drawingml/2006/main">
              <a:ext uri="{FF2B5EF4-FFF2-40B4-BE49-F238E27FC236}">
                <a16:creationId xmlns:a16="http://schemas.microsoft.com/office/drawing/2014/main" id="{DFDE1547-0942-4439-95AB-B732AD8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4619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Critic hedefi-title">
            <a:extLst xmlns:a="http://schemas.openxmlformats.org/drawingml/2006/main">
              <a:ext uri="{FF2B5EF4-FFF2-40B4-BE49-F238E27FC236}">
                <a16:creationId xmlns:a16="http://schemas.microsoft.com/office/drawing/2014/main" id="{20C0AD14-D073-4E49-A680-E776D3E3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05225"/>
            <a:ext cx="4276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Critic hedefi</a:t>
            </a:r>
          </a:p>
        </p:txBody>
      </p:sp>
      <p:sp>
        <p:nvSpPr>
          <p:cNvPr id="23" name="Critic hedefi-body">
            <a:extLst xmlns:a="http://schemas.openxmlformats.org/drawingml/2006/main">
              <a:ext uri="{FF2B5EF4-FFF2-40B4-BE49-F238E27FC236}">
                <a16:creationId xmlns:a16="http://schemas.microsoft.com/office/drawing/2014/main" id="{297DE6D2-C9E7-4944-A496-8CC89F84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29075"/>
            <a:ext cx="42767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y = r + gamma(Qtarget(sprime,aprime) - alpha log pi(aprime|sprime)). Hedef ağlar yumuşak güncellenir.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25D76-F712-45BB-BAF8-421D54E0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Ağ: MlpPolicy, [256,256], learning rate 3e-4, entropy coefficient auto.</a:t>
            </a:r>
          </a:p>
        </p:txBody>
      </p:sp>
    </p:spTree>
    <p:extLst>
      <p:ext uri="{BB962C8B-B14F-4D97-AF65-F5344CB8AC3E}">
        <p14:creationId xmlns:p14="http://schemas.microsoft.com/office/powerpoint/2010/main" val="4797904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55A593F-9B4E-4FA4-812D-436415BF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E555F36-7C26-4584-9926-9F724E5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4585D2-96A6-4D31-852F-06D3BA30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ÖDÜL FONKSİYONU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E510405-57C9-48EB-80CB-88F1A9B8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Pozitif terimler keşfi büyütür; negatif terimler riski ve boşa hareketi bastırır.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538AD0F-287D-4456-8F8C-9BCBA437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D0BF79-D9A3-4A0A-834C-FFC20977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c59f89ed64005"/>
          <a:stretch xmlns:a="http://schemas.openxmlformats.org/drawingml/2006/main"/>
        </p:blipFill>
        <p:spPr>
          <a:xfrm xmlns:a="http://schemas.openxmlformats.org/drawingml/2006/main">
            <a:off x="523875" y="1485900"/>
            <a:ext cx="714375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Gazebo çekirdeği-box">
            <a:extLst xmlns:a="http://schemas.openxmlformats.org/drawingml/2006/main">
              <a:ext uri="{FF2B5EF4-FFF2-40B4-BE49-F238E27FC236}">
                <a16:creationId xmlns:a16="http://schemas.microsoft.com/office/drawing/2014/main" id="{D7B84958-22D6-45FB-A57E-5699E42B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Gazebo çekirdeği-title">
            <a:extLst xmlns:a="http://schemas.openxmlformats.org/drawingml/2006/main">
              <a:ext uri="{FF2B5EF4-FFF2-40B4-BE49-F238E27FC236}">
                <a16:creationId xmlns:a16="http://schemas.microsoft.com/office/drawing/2014/main" id="{5CA9A7B5-FC2E-49AD-86D1-DBF678E3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0497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Gazebo çekirdeği</a:t>
            </a:r>
          </a:p>
        </p:txBody>
      </p:sp>
      <p:sp>
        <p:nvSpPr>
          <p:cNvPr id="10" name="Gazebo çekirdeği-body">
            <a:extLst xmlns:a="http://schemas.openxmlformats.org/drawingml/2006/main">
              <a:ext uri="{FF2B5EF4-FFF2-40B4-BE49-F238E27FC236}">
                <a16:creationId xmlns:a16="http://schemas.microsoft.com/office/drawing/2014/main" id="{9D32BA6B-EDA2-4819-9F7E-8DA832AD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28825"/>
            <a:ext cx="2800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r = -0.01 + 3 yeni voxel + 20 yeni oda - yakın duvar - tekrar - idle - çarpışma.</a:t>
            </a:r>
          </a:p>
        </p:txBody>
      </p:sp>
      <p:sp>
        <p:nvSpPr>
          <p:cNvPr id="11" name="2D ek mantık-box">
            <a:extLst xmlns:a="http://schemas.openxmlformats.org/drawingml/2006/main">
              <a:ext uri="{FF2B5EF4-FFF2-40B4-BE49-F238E27FC236}">
                <a16:creationId xmlns:a16="http://schemas.microsoft.com/office/drawing/2014/main" id="{BA88AEDA-C88F-4679-9087-7AE2B2B9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2D ek mantık-title">
            <a:extLst xmlns:a="http://schemas.openxmlformats.org/drawingml/2006/main">
              <a:ext uri="{FF2B5EF4-FFF2-40B4-BE49-F238E27FC236}">
                <a16:creationId xmlns:a16="http://schemas.microsoft.com/office/drawing/2014/main" id="{13DC90B7-E2CB-4C8C-8E01-9B916216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2D ek mantık</a:t>
            </a:r>
          </a:p>
        </p:txBody>
      </p:sp>
      <p:sp>
        <p:nvSpPr>
          <p:cNvPr id="13" name="2D ek mantık-body">
            <a:extLst xmlns:a="http://schemas.openxmlformats.org/drawingml/2006/main">
              <a:ext uri="{FF2B5EF4-FFF2-40B4-BE49-F238E27FC236}">
                <a16:creationId xmlns:a16="http://schemas.microsoft.com/office/drawing/2014/main" id="{2E39C685-996D-421E-9FF7-A9373F9E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43325"/>
            <a:ext cx="2800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Aynı yapıya +60 tüm odalar bonusu ve -40 episode çarpışma cezası eklenir.</a:t>
            </a:r>
          </a:p>
        </p:txBody>
      </p:sp>
    </p:spTree>
    <p:extLst>
      <p:ext uri="{BB962C8B-B14F-4D97-AF65-F5344CB8AC3E}">
        <p14:creationId xmlns:p14="http://schemas.microsoft.com/office/powerpoint/2010/main" val="11413067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11C860A-16DA-450C-8C63-CFB9EE2B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E117C5-340F-40F2-A8C5-E7A68FF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4CD4F4-D676-432C-8A5D-87F657E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EĞİTİM STRATEJİSİ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61EB8EE-4BC2-4607-B1FE-A636993D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Hızlı 2D iterasyonu hızlandırır; Gazebo gerçekçilik kontrolünü sağlar.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CC46F0D-4DFD-46B9-BF96-D7C19FE8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4E8C641-0CF7-4FC8-B2B5-0CBCA91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Hızlı 2D Gymnasium-box">
            <a:extLst xmlns:a="http://schemas.openxmlformats.org/drawingml/2006/main">
              <a:ext uri="{FF2B5EF4-FFF2-40B4-BE49-F238E27FC236}">
                <a16:creationId xmlns:a16="http://schemas.microsoft.com/office/drawing/2014/main" id="{6673C5D8-E36F-410A-9BB9-2ADA6E53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Hızlı 2D Gymnasium-title">
            <a:extLst xmlns:a="http://schemas.openxmlformats.org/drawingml/2006/main">
              <a:ext uri="{FF2B5EF4-FFF2-40B4-BE49-F238E27FC236}">
                <a16:creationId xmlns:a16="http://schemas.microsoft.com/office/drawing/2014/main" id="{CA3B971E-D80E-46B3-B055-13916236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Hızlı 2D Gymnasium</a:t>
            </a:r>
          </a:p>
        </p:txBody>
      </p:sp>
      <p:sp>
        <p:nvSpPr>
          <p:cNvPr id="9" name="Hızlı 2D Gymnasium-body">
            <a:extLst xmlns:a="http://schemas.openxmlformats.org/drawingml/2006/main">
              <a:ext uri="{FF2B5EF4-FFF2-40B4-BE49-F238E27FC236}">
                <a16:creationId xmlns:a16="http://schemas.microsoft.com/office/drawing/2014/main" id="{C23B168E-AA38-47FE-A044-396ABF9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4419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Gazebo render yok, ROS topic bekleme yok, çoklu environment ile paralel SAC. Reward tasarımı, oda geçişi ve keşif davranışı hızlı test edilir. Örnek koşu: 234.064 timestep, 564 episode.</a:t>
            </a:r>
          </a:p>
        </p:txBody>
      </p:sp>
      <p:sp>
        <p:nvSpPr>
          <p:cNvPr id="10" name="Gazebo Gymnasium-box">
            <a:extLst xmlns:a="http://schemas.openxmlformats.org/drawingml/2006/main">
              <a:ext uri="{FF2B5EF4-FFF2-40B4-BE49-F238E27FC236}">
                <a16:creationId xmlns:a16="http://schemas.microsoft.com/office/drawing/2014/main" id="{35F6A766-48DA-4840-9664-2A593181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Gazebo Gymnasium-title">
            <a:extLst xmlns:a="http://schemas.openxmlformats.org/drawingml/2006/main">
              <a:ext uri="{FF2B5EF4-FFF2-40B4-BE49-F238E27FC236}">
                <a16:creationId xmlns:a16="http://schemas.microsoft.com/office/drawing/2014/main" id="{8CD40E80-4751-4436-9A73-64504003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Gazebo Gymnasium</a:t>
            </a:r>
          </a:p>
        </p:txBody>
      </p:sp>
      <p:sp>
        <p:nvSpPr>
          <p:cNvPr id="12" name="Gazebo Gymnasium-body">
            <a:extLst xmlns:a="http://schemas.openxmlformats.org/drawingml/2006/main">
              <a:ext uri="{FF2B5EF4-FFF2-40B4-BE49-F238E27FC236}">
                <a16:creationId xmlns:a16="http://schemas.microsoft.com/office/drawing/2014/main" id="{4CBD843E-F7E2-41A9-90D4-996B1448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4419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Gerçek lidar, odometri, cmd_vel ve hareketli engeller kullanılır. Daha yavaştır, fakat fizik, sensör zamanlaması ve güvenliği doğrular. Eval: 5 episode, 0 çarpışma.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1CD61-F3F9-4E43-90C3-5D11B854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Pratik akış: 2D prototip -&gt; reward ayarı -&gt; daha uzun Gazebo doğrulama eğitimi.</a:t>
            </a:r>
          </a:p>
        </p:txBody>
      </p:sp>
    </p:spTree>
    <p:extLst>
      <p:ext uri="{BB962C8B-B14F-4D97-AF65-F5344CB8AC3E}">
        <p14:creationId xmlns:p14="http://schemas.microsoft.com/office/powerpoint/2010/main" val="20819607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85CE34A-B522-4259-A7AD-EBE11D4A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9EEE53-D4CF-4E92-AFB5-BFAA407E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51A49F5-B761-471C-A0F8-598B73B3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EĞİTİM SONUÇLARI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6E6F906-A190-46C2-AD10-EDB37570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Hızlı 2D SAC reward, voxel ve oda keşfinde belirgin öğrenme gösterir.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4D1B303-2698-44F9-AADB-8B32CE3D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99FCC1E-32F1-40D3-94A8-2541729E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97844ee814b14"/>
          <a:stretch xmlns:a="http://schemas.openxmlformats.org/drawingml/2006/main"/>
        </p:blipFill>
        <p:spPr>
          <a:xfrm xmlns:a="http://schemas.openxmlformats.org/drawingml/2006/main">
            <a:off x="623898" y="1381125"/>
            <a:ext cx="7229455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Timestep-metric-box">
            <a:extLst xmlns:a="http://schemas.openxmlformats.org/drawingml/2006/main">
              <a:ext uri="{FF2B5EF4-FFF2-40B4-BE49-F238E27FC236}">
                <a16:creationId xmlns:a16="http://schemas.microsoft.com/office/drawing/2014/main" id="{7D264726-3F98-4AED-9692-7FD0894F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428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Timestep-value">
            <a:extLst xmlns:a="http://schemas.openxmlformats.org/drawingml/2006/main">
              <a:ext uri="{FF2B5EF4-FFF2-40B4-BE49-F238E27FC236}">
                <a16:creationId xmlns:a16="http://schemas.microsoft.com/office/drawing/2014/main" id="{5172E09D-74C8-4F28-8B8D-8031CDD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859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234k</a:t>
            </a:r>
          </a:p>
        </p:txBody>
      </p:sp>
      <p:sp>
        <p:nvSpPr>
          <p:cNvPr id="10" name="Timestep-label">
            <a:extLst xmlns:a="http://schemas.openxmlformats.org/drawingml/2006/main">
              <a:ext uri="{FF2B5EF4-FFF2-40B4-BE49-F238E27FC236}">
                <a16:creationId xmlns:a16="http://schemas.microsoft.com/office/drawing/2014/main" id="{2F2E6929-F660-45B9-A5DF-38E39315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97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Timestep</a:t>
            </a:r>
          </a:p>
        </p:txBody>
      </p:sp>
      <p:sp>
        <p:nvSpPr>
          <p:cNvPr id="11" name="Timestep-sub">
            <a:extLst xmlns:a="http://schemas.openxmlformats.org/drawingml/2006/main">
              <a:ext uri="{FF2B5EF4-FFF2-40B4-BE49-F238E27FC236}">
                <a16:creationId xmlns:a16="http://schemas.microsoft.com/office/drawing/2014/main" id="{2B5B6CDA-AA8A-4AA5-8C14-B303384C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02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hızlı 2D</a:t>
            </a:r>
          </a:p>
        </p:txBody>
      </p:sp>
      <p:sp>
        <p:nvSpPr>
          <p:cNvPr id="12" name="Son 50 reward-metric-box">
            <a:extLst xmlns:a="http://schemas.openxmlformats.org/drawingml/2006/main">
              <a:ext uri="{FF2B5EF4-FFF2-40B4-BE49-F238E27FC236}">
                <a16:creationId xmlns:a16="http://schemas.microsoft.com/office/drawing/2014/main" id="{34DC082A-3D2F-4870-BFEE-4931B97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428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Son 50 reward-value">
            <a:extLst xmlns:a="http://schemas.openxmlformats.org/drawingml/2006/main">
              <a:ext uri="{FF2B5EF4-FFF2-40B4-BE49-F238E27FC236}">
                <a16:creationId xmlns:a16="http://schemas.microsoft.com/office/drawing/2014/main" id="{866B8388-C9EF-4375-941B-D9A7E777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392.3</a:t>
            </a:r>
          </a:p>
        </p:txBody>
      </p:sp>
      <p:sp>
        <p:nvSpPr>
          <p:cNvPr id="14" name="Son 50 reward-label">
            <a:extLst xmlns:a="http://schemas.openxmlformats.org/drawingml/2006/main">
              <a:ext uri="{FF2B5EF4-FFF2-40B4-BE49-F238E27FC236}">
                <a16:creationId xmlns:a16="http://schemas.microsoft.com/office/drawing/2014/main" id="{E528BD85-D7D2-40F9-AC48-4CB4244C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Son 50 reward</a:t>
            </a:r>
          </a:p>
        </p:txBody>
      </p:sp>
      <p:sp>
        <p:nvSpPr>
          <p:cNvPr id="15" name="Son 50 reward-sub">
            <a:extLst xmlns:a="http://schemas.openxmlformats.org/drawingml/2006/main">
              <a:ext uri="{FF2B5EF4-FFF2-40B4-BE49-F238E27FC236}">
                <a16:creationId xmlns:a16="http://schemas.microsoft.com/office/drawing/2014/main" id="{59DCE2FE-19AD-49F4-8962-897604AC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432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ortalama</a:t>
            </a:r>
          </a:p>
        </p:txBody>
      </p:sp>
      <p:sp>
        <p:nvSpPr>
          <p:cNvPr id="16" name="Son 50 voxel-metric-box">
            <a:extLst xmlns:a="http://schemas.openxmlformats.org/drawingml/2006/main">
              <a:ext uri="{FF2B5EF4-FFF2-40B4-BE49-F238E27FC236}">
                <a16:creationId xmlns:a16="http://schemas.microsoft.com/office/drawing/2014/main" id="{B98C46C5-2780-4930-A709-6D4DF961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428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Son 50 voxel-value">
            <a:extLst xmlns:a="http://schemas.openxmlformats.org/drawingml/2006/main">
              <a:ext uri="{FF2B5EF4-FFF2-40B4-BE49-F238E27FC236}">
                <a16:creationId xmlns:a16="http://schemas.microsoft.com/office/drawing/2014/main" id="{4AF6755C-0921-48A8-BDF5-DC7EBD91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719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191</a:t>
            </a:r>
          </a:p>
        </p:txBody>
      </p:sp>
      <p:sp>
        <p:nvSpPr>
          <p:cNvPr id="18" name="Son 50 voxel-label">
            <a:extLst xmlns:a="http://schemas.openxmlformats.org/drawingml/2006/main">
              <a:ext uri="{FF2B5EF4-FFF2-40B4-BE49-F238E27FC236}">
                <a16:creationId xmlns:a16="http://schemas.microsoft.com/office/drawing/2014/main" id="{B50222AA-C079-4162-B7E3-DD3447FE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957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Son 50 voxel</a:t>
            </a:r>
          </a:p>
        </p:txBody>
      </p:sp>
      <p:sp>
        <p:nvSpPr>
          <p:cNvPr id="19" name="Son 50 voxel-sub">
            <a:extLst xmlns:a="http://schemas.openxmlformats.org/drawingml/2006/main">
              <a:ext uri="{FF2B5EF4-FFF2-40B4-BE49-F238E27FC236}">
                <a16:creationId xmlns:a16="http://schemas.microsoft.com/office/drawing/2014/main" id="{352132EB-59DC-43FF-A437-189F75DB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862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ortalama</a:t>
            </a:r>
          </a:p>
        </p:txBody>
      </p:sp>
      <p:sp>
        <p:nvSpPr>
          <p:cNvPr id="20" name="Son 50 oda-metric-box">
            <a:extLst xmlns:a="http://schemas.openxmlformats.org/drawingml/2006/main">
              <a:ext uri="{FF2B5EF4-FFF2-40B4-BE49-F238E27FC236}">
                <a16:creationId xmlns:a16="http://schemas.microsoft.com/office/drawing/2014/main" id="{7607571F-8BAF-40A7-AA62-6E1F1000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428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Son 50 oda-value">
            <a:extLst xmlns:a="http://schemas.openxmlformats.org/drawingml/2006/main">
              <a:ext uri="{FF2B5EF4-FFF2-40B4-BE49-F238E27FC236}">
                <a16:creationId xmlns:a16="http://schemas.microsoft.com/office/drawing/2014/main" id="{CAD789F6-917E-4349-8D0D-FA877662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14925"/>
            <a:ext cx="2124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4.28/6</a:t>
            </a:r>
          </a:p>
        </p:txBody>
      </p:sp>
      <p:sp>
        <p:nvSpPr>
          <p:cNvPr id="22" name="Son 50 oda-label">
            <a:extLst xmlns:a="http://schemas.openxmlformats.org/drawingml/2006/main">
              <a:ext uri="{FF2B5EF4-FFF2-40B4-BE49-F238E27FC236}">
                <a16:creationId xmlns:a16="http://schemas.microsoft.com/office/drawing/2014/main" id="{199BD911-ACA4-4594-B07E-B119C4BC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387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Son 50 oda</a:t>
            </a:r>
          </a:p>
        </p:txBody>
      </p:sp>
      <p:sp>
        <p:nvSpPr>
          <p:cNvPr id="23" name="Son 50 oda-sub">
            <a:extLst xmlns:a="http://schemas.openxmlformats.org/drawingml/2006/main">
              <a:ext uri="{FF2B5EF4-FFF2-40B4-BE49-F238E27FC236}">
                <a16:creationId xmlns:a16="http://schemas.microsoft.com/office/drawing/2014/main" id="{CFFF63FF-92C8-4471-98E3-170BF233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29275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ortalama</a:t>
            </a:r>
          </a:p>
        </p:txBody>
      </p:sp>
    </p:spTree>
    <p:extLst>
      <p:ext uri="{BB962C8B-B14F-4D97-AF65-F5344CB8AC3E}">
        <p14:creationId xmlns:p14="http://schemas.microsoft.com/office/powerpoint/2010/main" val="10495961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0B386BB-93DB-43D8-92C8-01F94FFD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0FDC1F-A87F-4A94-9CC3-CB67D06B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B77889-6C07-4315-AFEA-1015FDE8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BAŞARI VE GÜVENLİK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7CE6789-C168-4066-96FB-FD79A000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Hızlı 2D eğitim güçlü keşif davranışı ve ölçülebilir başarı artışı üretir.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FBC4F26-AF29-4E30-923D-C88D653E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63BA4DE-D878-400A-A05D-9A347F90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6c1fdf1ff4a69"/>
          <a:stretch xmlns:a="http://schemas.openxmlformats.org/drawingml/2006/main"/>
        </p:blipFill>
        <p:spPr>
          <a:xfrm xmlns:a="http://schemas.openxmlformats.org/drawingml/2006/main">
            <a:off x="666750" y="1959657"/>
            <a:ext cx="7239000" cy="3367312"/>
          </a:xfrm>
          <a:prstGeom xmlns:a="http://schemas.openxmlformats.org/drawingml/2006/main" prst="rect">
            <a:avLst/>
          </a:prstGeom>
        </p:spPr>
      </p:pic>
      <p:sp>
        <p:nvSpPr>
          <p:cNvPr id="8" name="Başarı-box">
            <a:extLst xmlns:a="http://schemas.openxmlformats.org/drawingml/2006/main">
              <a:ext uri="{FF2B5EF4-FFF2-40B4-BE49-F238E27FC236}">
                <a16:creationId xmlns:a16="http://schemas.microsoft.com/office/drawing/2014/main" id="{341F9E59-F11D-4AA2-BDA9-BD0FE2CE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Başarı-title">
            <a:extLst xmlns:a="http://schemas.openxmlformats.org/drawingml/2006/main">
              <a:ext uri="{FF2B5EF4-FFF2-40B4-BE49-F238E27FC236}">
                <a16:creationId xmlns:a16="http://schemas.microsoft.com/office/drawing/2014/main" id="{B675FF63-E94F-40E3-B5F9-117F210F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28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Başarı</a:t>
            </a:r>
          </a:p>
        </p:txBody>
      </p:sp>
      <p:sp>
        <p:nvSpPr>
          <p:cNvPr id="10" name="Başarı-body">
            <a:extLst xmlns:a="http://schemas.openxmlformats.org/drawingml/2006/main">
              <a:ext uri="{FF2B5EF4-FFF2-40B4-BE49-F238E27FC236}">
                <a16:creationId xmlns:a16="http://schemas.microsoft.com/office/drawing/2014/main" id="{4A2103A5-595B-48E4-A289-59B8D761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52650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Son 50 episode içinde 6 oda başarı oranı %22.</a:t>
            </a:r>
          </a:p>
        </p:txBody>
      </p:sp>
      <p:sp>
        <p:nvSpPr>
          <p:cNvPr id="11" name="Güvenlik-box">
            <a:extLst xmlns:a="http://schemas.openxmlformats.org/drawingml/2006/main">
              <a:ext uri="{FF2B5EF4-FFF2-40B4-BE49-F238E27FC236}">
                <a16:creationId xmlns:a16="http://schemas.microsoft.com/office/drawing/2014/main" id="{9FBAA28B-18EF-4C18-AF88-67422FB6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Güvenlik-title">
            <a:extLst xmlns:a="http://schemas.openxmlformats.org/drawingml/2006/main">
              <a:ext uri="{FF2B5EF4-FFF2-40B4-BE49-F238E27FC236}">
                <a16:creationId xmlns:a16="http://schemas.microsoft.com/office/drawing/2014/main" id="{3BD0560B-B9DF-4D89-A189-EF935943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766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Güvenlik</a:t>
            </a:r>
          </a:p>
        </p:txBody>
      </p:sp>
      <p:sp>
        <p:nvSpPr>
          <p:cNvPr id="13" name="Güvenlik-body">
            <a:extLst xmlns:a="http://schemas.openxmlformats.org/drawingml/2006/main">
              <a:ext uri="{FF2B5EF4-FFF2-40B4-BE49-F238E27FC236}">
                <a16:creationId xmlns:a16="http://schemas.microsoft.com/office/drawing/2014/main" id="{973E60AD-0326-48E3-B7A8-080848F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00450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Güvenlik metriği açıkça izleniyor; bu sayede politika kontrollü şekilde iyileştirilebiliyor.</a:t>
            </a:r>
          </a:p>
        </p:txBody>
      </p:sp>
      <p:sp>
        <p:nvSpPr>
          <p:cNvPr id="14" name="Yorum-box">
            <a:extLst xmlns:a="http://schemas.openxmlformats.org/drawingml/2006/main">
              <a:ext uri="{FF2B5EF4-FFF2-40B4-BE49-F238E27FC236}">
                <a16:creationId xmlns:a16="http://schemas.microsoft.com/office/drawing/2014/main" id="{90846F8A-E309-45A0-AD53-9C0C84A8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910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Yorum-title">
            <a:extLst xmlns:a="http://schemas.openxmlformats.org/drawingml/2006/main">
              <a:ext uri="{FF2B5EF4-FFF2-40B4-BE49-F238E27FC236}">
                <a16:creationId xmlns:a16="http://schemas.microsoft.com/office/drawing/2014/main" id="{13801EDD-2DFF-4521-81D8-1F7B0F05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244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Yorum</a:t>
            </a:r>
          </a:p>
        </p:txBody>
      </p:sp>
      <p:sp>
        <p:nvSpPr>
          <p:cNvPr id="16" name="Yorum-body">
            <a:extLst xmlns:a="http://schemas.openxmlformats.org/drawingml/2006/main">
              <a:ext uri="{FF2B5EF4-FFF2-40B4-BE49-F238E27FC236}">
                <a16:creationId xmlns:a16="http://schemas.microsoft.com/office/drawing/2014/main" id="{CA6824BC-6BE9-4A87-AF5B-05BF9AD7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48250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Politika yeni odalara geçişi öğrenmiş durumda; 6 oda başarıları eğitim boyunca görünür hale geliyor.</a:t>
            </a:r>
          </a:p>
        </p:txBody>
      </p:sp>
    </p:spTree>
    <p:extLst>
      <p:ext uri="{BB962C8B-B14F-4D97-AF65-F5344CB8AC3E}">
        <p14:creationId xmlns:p14="http://schemas.microsoft.com/office/powerpoint/2010/main" val="12620731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D4867DF-5DC1-4A38-B256-C5984946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D0B30AF-1D73-4335-8506-331A68B0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8FDD57-5E1C-451F-A531-4FAAAFC9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GAZEBO DOĞRULAMASI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5AC1F32-2B76-4A67-82E8-B1E1014F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Gazebo doğrulaması çarpışmasız ve güvenli simülasyon davranışını gösterir.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CED0287-B57E-4850-8933-519DD895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5C9CC0B-D65F-4B20-BB6D-94276470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950d8ad174ba6"/>
          <a:stretch xmlns:a="http://schemas.openxmlformats.org/drawingml/2006/main"/>
        </p:blipFill>
        <p:spPr>
          <a:xfrm xmlns:a="http://schemas.openxmlformats.org/drawingml/2006/main">
            <a:off x="666750" y="2743647"/>
            <a:ext cx="6191250" cy="1370705"/>
          </a:xfrm>
          <a:prstGeom xmlns:a="http://schemas.openxmlformats.org/drawingml/2006/main" prst="rect">
            <a:avLst/>
          </a:prstGeom>
        </p:spPr>
      </p:pic>
      <p:sp>
        <p:nvSpPr>
          <p:cNvPr id="8" name="Ort. reward-metric-box">
            <a:extLst xmlns:a="http://schemas.openxmlformats.org/drawingml/2006/main">
              <a:ext uri="{FF2B5EF4-FFF2-40B4-BE49-F238E27FC236}">
                <a16:creationId xmlns:a16="http://schemas.microsoft.com/office/drawing/2014/main" id="{26746BA6-F6E1-4D29-B304-89C0C45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Ort. reward-value">
            <a:extLst xmlns:a="http://schemas.openxmlformats.org/drawingml/2006/main">
              <a:ext uri="{FF2B5EF4-FFF2-40B4-BE49-F238E27FC236}">
                <a16:creationId xmlns:a16="http://schemas.microsoft.com/office/drawing/2014/main" id="{C1FB6343-21DB-48BA-A448-D6FB394C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85925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-35.5</a:t>
            </a:r>
          </a:p>
        </p:txBody>
      </p:sp>
      <p:sp>
        <p:nvSpPr>
          <p:cNvPr id="10" name="Ort. reward-label">
            <a:extLst xmlns:a="http://schemas.openxmlformats.org/drawingml/2006/main">
              <a:ext uri="{FF2B5EF4-FFF2-40B4-BE49-F238E27FC236}">
                <a16:creationId xmlns:a16="http://schemas.microsoft.com/office/drawing/2014/main" id="{FD5FA01D-CC92-4BE6-BA6F-9BA8BDD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97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Ort. reward</a:t>
            </a:r>
          </a:p>
        </p:txBody>
      </p:sp>
      <p:sp>
        <p:nvSpPr>
          <p:cNvPr id="11" name="Ort. reward-sub">
            <a:extLst xmlns:a="http://schemas.openxmlformats.org/drawingml/2006/main">
              <a:ext uri="{FF2B5EF4-FFF2-40B4-BE49-F238E27FC236}">
                <a16:creationId xmlns:a16="http://schemas.microsoft.com/office/drawing/2014/main" id="{76894BFD-A249-4532-803B-877B7134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002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5 episode</a:t>
            </a:r>
          </a:p>
        </p:txBody>
      </p:sp>
      <p:sp>
        <p:nvSpPr>
          <p:cNvPr id="12" name="Ort. oda-metric-box">
            <a:extLst xmlns:a="http://schemas.openxmlformats.org/drawingml/2006/main">
              <a:ext uri="{FF2B5EF4-FFF2-40B4-BE49-F238E27FC236}">
                <a16:creationId xmlns:a16="http://schemas.microsoft.com/office/drawing/2014/main" id="{3B5198B6-E5BD-404C-9EB9-E2793B8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Ort. oda-value">
            <a:extLst xmlns:a="http://schemas.openxmlformats.org/drawingml/2006/main">
              <a:ext uri="{FF2B5EF4-FFF2-40B4-BE49-F238E27FC236}">
                <a16:creationId xmlns:a16="http://schemas.microsoft.com/office/drawing/2014/main" id="{132A1EB2-D056-4DAB-BFA0-DD77468D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28925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1.2/6</a:t>
            </a:r>
          </a:p>
        </p:txBody>
      </p:sp>
      <p:sp>
        <p:nvSpPr>
          <p:cNvPr id="14" name="Ort. oda-label">
            <a:extLst xmlns:a="http://schemas.openxmlformats.org/drawingml/2006/main">
              <a:ext uri="{FF2B5EF4-FFF2-40B4-BE49-F238E27FC236}">
                <a16:creationId xmlns:a16="http://schemas.microsoft.com/office/drawing/2014/main" id="{93655218-00AA-4568-B153-A6F8CB19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527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Ort. oda</a:t>
            </a:r>
          </a:p>
        </p:txBody>
      </p:sp>
      <p:sp>
        <p:nvSpPr>
          <p:cNvPr id="15" name="Ort. oda-sub">
            <a:extLst xmlns:a="http://schemas.openxmlformats.org/drawingml/2006/main">
              <a:ext uri="{FF2B5EF4-FFF2-40B4-BE49-F238E27FC236}">
                <a16:creationId xmlns:a16="http://schemas.microsoft.com/office/drawing/2014/main" id="{E0CCA6DC-FB9C-4937-B751-3AD7A04B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432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Gazebo eval</a:t>
            </a:r>
          </a:p>
        </p:txBody>
      </p:sp>
      <p:sp>
        <p:nvSpPr>
          <p:cNvPr id="16" name="En iyi oda-metric-box">
            <a:extLst xmlns:a="http://schemas.openxmlformats.org/drawingml/2006/main">
              <a:ext uri="{FF2B5EF4-FFF2-40B4-BE49-F238E27FC236}">
                <a16:creationId xmlns:a16="http://schemas.microsoft.com/office/drawing/2014/main" id="{5611B46B-E437-4E47-87CF-A89FAA5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En iyi oda-value">
            <a:extLst xmlns:a="http://schemas.openxmlformats.org/drawingml/2006/main">
              <a:ext uri="{FF2B5EF4-FFF2-40B4-BE49-F238E27FC236}">
                <a16:creationId xmlns:a16="http://schemas.microsoft.com/office/drawing/2014/main" id="{3F867574-7915-4480-8E68-07C4AC81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71925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2/6</a:t>
            </a:r>
          </a:p>
        </p:txBody>
      </p:sp>
      <p:sp>
        <p:nvSpPr>
          <p:cNvPr id="18" name="En iyi oda-label">
            <a:extLst xmlns:a="http://schemas.openxmlformats.org/drawingml/2006/main">
              <a:ext uri="{FF2B5EF4-FFF2-40B4-BE49-F238E27FC236}">
                <a16:creationId xmlns:a16="http://schemas.microsoft.com/office/drawing/2014/main" id="{93649086-CD22-419C-8BBE-B5E15AA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957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En iyi oda</a:t>
            </a:r>
          </a:p>
        </p:txBody>
      </p:sp>
      <p:sp>
        <p:nvSpPr>
          <p:cNvPr id="19" name="En iyi oda-sub">
            <a:extLst xmlns:a="http://schemas.openxmlformats.org/drawingml/2006/main">
              <a:ext uri="{FF2B5EF4-FFF2-40B4-BE49-F238E27FC236}">
                <a16:creationId xmlns:a16="http://schemas.microsoft.com/office/drawing/2014/main" id="{891A9686-073D-4F4B-93F7-DF78EF0E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862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Gazebo eval</a:t>
            </a:r>
          </a:p>
        </p:txBody>
      </p:sp>
      <p:sp>
        <p:nvSpPr>
          <p:cNvPr id="20" name="Çarpışma-metric-box">
            <a:extLst xmlns:a="http://schemas.openxmlformats.org/drawingml/2006/main">
              <a:ext uri="{FF2B5EF4-FFF2-40B4-BE49-F238E27FC236}">
                <a16:creationId xmlns:a16="http://schemas.microsoft.com/office/drawing/2014/main" id="{9E391E3F-52FB-4807-97CD-36B430CA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00625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Çarpışma-value">
            <a:extLst xmlns:a="http://schemas.openxmlformats.org/drawingml/2006/main">
              <a:ext uri="{FF2B5EF4-FFF2-40B4-BE49-F238E27FC236}">
                <a16:creationId xmlns:a16="http://schemas.microsoft.com/office/drawing/2014/main" id="{D68B1FBC-A2DE-40C1-98FB-5D097695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14925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2" name="Çarpışma-label">
            <a:extLst xmlns:a="http://schemas.openxmlformats.org/drawingml/2006/main">
              <a:ext uri="{FF2B5EF4-FFF2-40B4-BE49-F238E27FC236}">
                <a16:creationId xmlns:a16="http://schemas.microsoft.com/office/drawing/2014/main" id="{9816E950-9FDA-4C4F-BF32-117C678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387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Çarpışma</a:t>
            </a:r>
          </a:p>
        </p:txBody>
      </p:sp>
      <p:sp>
        <p:nvSpPr>
          <p:cNvPr id="23" name="Çarpışma-sub">
            <a:extLst xmlns:a="http://schemas.openxmlformats.org/drawingml/2006/main">
              <a:ext uri="{FF2B5EF4-FFF2-40B4-BE49-F238E27FC236}">
                <a16:creationId xmlns:a16="http://schemas.microsoft.com/office/drawing/2014/main" id="{248C0F98-C984-4B70-9519-C69C7F55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29275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toplam</a:t>
            </a:r>
          </a:p>
        </p:txBody>
      </p:sp>
    </p:spTree>
    <p:extLst>
      <p:ext uri="{BB962C8B-B14F-4D97-AF65-F5344CB8AC3E}">
        <p14:creationId xmlns:p14="http://schemas.microsoft.com/office/powerpoint/2010/main" val="8726365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F3893F1-1829-42FC-9D18-F028C03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3653BB-13C7-4FD1-A320-912A4A17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F83AC8-4DE7-48E9-93F6-D75FC67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SONUÇ VE DEVAM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B99778B-555C-4B25-88CC-F350641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Sistem uçtan uca çalışıyor; hızlı öğrenme ve Gazebo güvenliği aynı pipeline’da birleşiyor.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8652A1B-FD06-401E-A351-AD784DB5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008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B5B7726-CD15-430A-BAC9-32420CB6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38875"/>
            <a:ext cx="11096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Ne başarıldı-box">
            <a:extLst xmlns:a="http://schemas.openxmlformats.org/drawingml/2006/main">
              <a:ext uri="{FF2B5EF4-FFF2-40B4-BE49-F238E27FC236}">
                <a16:creationId xmlns:a16="http://schemas.microsoft.com/office/drawing/2014/main" id="{E9E867E4-F687-417E-A886-FCE6FF5A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Ne başarıldı-title">
            <a:extLst xmlns:a="http://schemas.openxmlformats.org/drawingml/2006/main">
              <a:ext uri="{FF2B5EF4-FFF2-40B4-BE49-F238E27FC236}">
                <a16:creationId xmlns:a16="http://schemas.microsoft.com/office/drawing/2014/main" id="{AD484B5A-D377-4368-A957-9BD4E925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 başarıldı</a:t>
            </a:r>
          </a:p>
        </p:txBody>
      </p:sp>
      <p:sp>
        <p:nvSpPr>
          <p:cNvPr id="9" name="Ne başarıldı-body">
            <a:extLst xmlns:a="http://schemas.openxmlformats.org/drawingml/2006/main">
              <a:ext uri="{FF2B5EF4-FFF2-40B4-BE49-F238E27FC236}">
                <a16:creationId xmlns:a16="http://schemas.microsoft.com/office/drawing/2014/main" id="{1EE33707-5289-4D48-A6CE-8481B0F8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2800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Gazebo dünya, ROS köprüleri, Gymnasium wrapper, SAC/PPO eğitim hatları ve hızlı 2D SAC prototipi hazır.</a:t>
            </a:r>
          </a:p>
        </p:txBody>
      </p:sp>
      <p:sp>
        <p:nvSpPr>
          <p:cNvPr id="10" name="Ana bulgu-box">
            <a:extLst xmlns:a="http://schemas.openxmlformats.org/drawingml/2006/main">
              <a:ext uri="{FF2B5EF4-FFF2-40B4-BE49-F238E27FC236}">
                <a16:creationId xmlns:a16="http://schemas.microsoft.com/office/drawing/2014/main" id="{63D040D2-9D96-4724-ABF4-E85F407D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Ana bulgu-title">
            <a:extLst xmlns:a="http://schemas.openxmlformats.org/drawingml/2006/main">
              <a:ext uri="{FF2B5EF4-FFF2-40B4-BE49-F238E27FC236}">
                <a16:creationId xmlns:a16="http://schemas.microsoft.com/office/drawing/2014/main" id="{AA0D27B6-4502-4410-91AE-7D32F17F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573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Ana bulgu</a:t>
            </a:r>
          </a:p>
        </p:txBody>
      </p:sp>
      <p:sp>
        <p:nvSpPr>
          <p:cNvPr id="12" name="Ana bulgu-body">
            <a:extLst xmlns:a="http://schemas.openxmlformats.org/drawingml/2006/main">
              <a:ext uri="{FF2B5EF4-FFF2-40B4-BE49-F238E27FC236}">
                <a16:creationId xmlns:a16="http://schemas.microsoft.com/office/drawing/2014/main" id="{5DB73B8F-20E3-49F4-BA49-3C46D1B8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81200"/>
            <a:ext cx="2800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Hızlı 2D güçlü öğrenme sinyalini, Gazebo eval ise gerçek simülasyonda güvenli çalışma kabiliyetini gösteriyor.</a:t>
            </a:r>
          </a:p>
        </p:txBody>
      </p:sp>
      <p:sp>
        <p:nvSpPr>
          <p:cNvPr id="13" name="Büyüme alanı-box">
            <a:extLst xmlns:a="http://schemas.openxmlformats.org/drawingml/2006/main">
              <a:ext uri="{FF2B5EF4-FFF2-40B4-BE49-F238E27FC236}">
                <a16:creationId xmlns:a16="http://schemas.microsoft.com/office/drawing/2014/main" id="{520CF4EE-6F7B-4853-9575-AA40B771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C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Büyüme alanı-title">
            <a:extLst xmlns:a="http://schemas.openxmlformats.org/drawingml/2006/main">
              <a:ext uri="{FF2B5EF4-FFF2-40B4-BE49-F238E27FC236}">
                <a16:creationId xmlns:a16="http://schemas.microsoft.com/office/drawing/2014/main" id="{C2428D84-5CC8-4C47-8497-CD343379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573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Büyüme alanı</a:t>
            </a:r>
          </a:p>
        </p:txBody>
      </p:sp>
      <p:sp>
        <p:nvSpPr>
          <p:cNvPr id="15" name="Büyüme alanı-body">
            <a:extLst xmlns:a="http://schemas.openxmlformats.org/drawingml/2006/main">
              <a:ext uri="{FF2B5EF4-FFF2-40B4-BE49-F238E27FC236}">
                <a16:creationId xmlns:a16="http://schemas.microsoft.com/office/drawing/2014/main" id="{5DF8C047-80AF-4EB6-BA19-5803349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2800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5"/>
                </a:solidFill>
                <a:latin typeface="Aptos"/>
                <a:ea typeface="Aptos"/>
                <a:cs typeface="Aptos"/>
              </a:rPr>
              <a:t>Domain randomization, reward grid search, uzun Gazebo SAC ve PPO/SAC benchmark ile performans ölçeklenebilir.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C66BD-BB9A-4BE1-BFF2-0EEF68D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Teknik mesaj: proje hem hızlı eğitim iterasyonu hem de gerçek simülasyon güvenliği sunan ölçeklenebilir bir RL platformudur.</a:t>
            </a:r>
          </a:p>
        </p:txBody>
      </p:sp>
    </p:spTree>
    <p:extLst>
      <p:ext uri="{BB962C8B-B14F-4D97-AF65-F5344CB8AC3E}">
        <p14:creationId xmlns:p14="http://schemas.microsoft.com/office/powerpoint/2010/main" val="1554501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2026-06-01T10:37:33.5870000Z</dcterms:created>
  <dcterms:modified xsi:type="dcterms:W3CDTF">2026-06-01T10:37:33.5880000Z</dcterms:modified>
</coreProperties>
</file>